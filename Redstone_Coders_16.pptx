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Lst>
  <p:sldSz cx="18288000" cy="10287000"/>
  <p:notesSz cx="6858000" cy="9144000"/>
  <p:embeddedFontLst>
    <p:embeddedFont>
      <p:font typeface="Canva Sans Bold" charset="1" panose="020B0803030501040103"/>
      <p:regular r:id="rId15"/>
    </p:embeddedFont>
    <p:embeddedFont>
      <p:font typeface="Canva Sans" charset="1" panose="020B0503030501040103"/>
      <p:regular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fonts/font15.fntdata" Type="http://schemas.openxmlformats.org/officeDocument/2006/relationships/font"/><Relationship Id="rId16" Target="fonts/font16.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3.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4.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5.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3.png" Type="http://schemas.openxmlformats.org/officeDocument/2006/relationships/image"/><Relationship Id="rId11" Target="../media/image14.png" Type="http://schemas.openxmlformats.org/officeDocument/2006/relationships/image"/><Relationship Id="rId2" Target="../media/image1.png" Type="http://schemas.openxmlformats.org/officeDocument/2006/relationships/image"/><Relationship Id="rId3" Target="../media/image6.png" Type="http://schemas.openxmlformats.org/officeDocument/2006/relationships/image"/><Relationship Id="rId4" Target="../media/image7.png" Type="http://schemas.openxmlformats.org/officeDocument/2006/relationships/image"/><Relationship Id="rId5" Target="../media/image8.png" Type="http://schemas.openxmlformats.org/officeDocument/2006/relationships/image"/><Relationship Id="rId6" Target="../media/image9.png" Type="http://schemas.openxmlformats.org/officeDocument/2006/relationships/image"/><Relationship Id="rId7" Target="../media/image10.png" Type="http://schemas.openxmlformats.org/officeDocument/2006/relationships/image"/><Relationship Id="rId8" Target="../media/image11.png" Type="http://schemas.openxmlformats.org/officeDocument/2006/relationships/image"/><Relationship Id="rId9" Target="../media/image12.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5.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2527840" y="2773719"/>
            <a:ext cx="8363489" cy="1770626"/>
          </a:xfrm>
          <a:prstGeom prst="rect">
            <a:avLst/>
          </a:prstGeom>
        </p:spPr>
        <p:txBody>
          <a:bodyPr anchor="t" rtlCol="false" tIns="0" lIns="0" bIns="0" rIns="0">
            <a:spAutoFit/>
          </a:bodyPr>
          <a:lstStyle/>
          <a:p>
            <a:pPr algn="l">
              <a:lnSpc>
                <a:spcPts val="4781"/>
              </a:lnSpc>
            </a:pPr>
          </a:p>
          <a:p>
            <a:pPr algn="l">
              <a:lnSpc>
                <a:spcPts val="4781"/>
              </a:lnSpc>
            </a:pPr>
            <a:r>
              <a:rPr lang="en-US" sz="3415" b="true">
                <a:solidFill>
                  <a:srgbClr val="000000"/>
                </a:solidFill>
                <a:latin typeface="Canva Sans Bold"/>
                <a:ea typeface="Canva Sans Bold"/>
                <a:cs typeface="Canva Sans Bold"/>
                <a:sym typeface="Canva Sans Bold"/>
              </a:rPr>
              <a:t>Team Name:  Redstone Coders                  </a:t>
            </a:r>
          </a:p>
          <a:p>
            <a:pPr algn="l">
              <a:lnSpc>
                <a:spcPts val="4781"/>
              </a:lnSpc>
              <a:spcBef>
                <a:spcPct val="0"/>
              </a:spcBef>
            </a:pPr>
          </a:p>
        </p:txBody>
      </p:sp>
      <p:sp>
        <p:nvSpPr>
          <p:cNvPr name="TextBox 4" id="4"/>
          <p:cNvSpPr txBox="true"/>
          <p:nvPr/>
        </p:nvSpPr>
        <p:spPr>
          <a:xfrm rot="0">
            <a:off x="2446687" y="4201445"/>
            <a:ext cx="13394625" cy="1753344"/>
          </a:xfrm>
          <a:prstGeom prst="rect">
            <a:avLst/>
          </a:prstGeom>
        </p:spPr>
        <p:txBody>
          <a:bodyPr anchor="t" rtlCol="false" tIns="0" lIns="0" bIns="0" rIns="0">
            <a:spAutoFit/>
          </a:bodyPr>
          <a:lstStyle/>
          <a:p>
            <a:pPr algn="l">
              <a:lnSpc>
                <a:spcPts val="4683"/>
              </a:lnSpc>
              <a:spcBef>
                <a:spcPct val="0"/>
              </a:spcBef>
            </a:pPr>
            <a:r>
              <a:rPr lang="en-US" b="true" sz="3345">
                <a:solidFill>
                  <a:srgbClr val="000000"/>
                </a:solidFill>
                <a:latin typeface="Canva Sans Bold"/>
                <a:ea typeface="Canva Sans Bold"/>
                <a:cs typeface="Canva Sans Bold"/>
                <a:sym typeface="Canva Sans Bold"/>
              </a:rPr>
              <a:t>Te</a:t>
            </a:r>
            <a:r>
              <a:rPr lang="en-US" b="true" sz="3345">
                <a:solidFill>
                  <a:srgbClr val="000000"/>
                </a:solidFill>
                <a:latin typeface="Canva Sans Bold"/>
                <a:ea typeface="Canva Sans Bold"/>
                <a:cs typeface="Canva Sans Bold"/>
                <a:sym typeface="Canva Sans Bold"/>
              </a:rPr>
              <a:t>am Leader: </a:t>
            </a:r>
            <a:r>
              <a:rPr lang="en-US" sz="3345">
                <a:solidFill>
                  <a:srgbClr val="000000"/>
                </a:solidFill>
                <a:latin typeface="Canva Sans"/>
                <a:ea typeface="Canva Sans"/>
                <a:cs typeface="Canva Sans"/>
                <a:sym typeface="Canva Sans"/>
              </a:rPr>
              <a:t>Soham Prasant Kumbhar</a:t>
            </a:r>
          </a:p>
          <a:p>
            <a:pPr algn="l">
              <a:lnSpc>
                <a:spcPts val="4683"/>
              </a:lnSpc>
              <a:spcBef>
                <a:spcPct val="0"/>
              </a:spcBef>
            </a:pPr>
          </a:p>
          <a:p>
            <a:pPr algn="l">
              <a:lnSpc>
                <a:spcPts val="4683"/>
              </a:lnSpc>
              <a:spcBef>
                <a:spcPct val="0"/>
              </a:spcBef>
            </a:pPr>
          </a:p>
        </p:txBody>
      </p:sp>
      <p:sp>
        <p:nvSpPr>
          <p:cNvPr name="TextBox 5" id="5"/>
          <p:cNvSpPr txBox="true"/>
          <p:nvPr/>
        </p:nvSpPr>
        <p:spPr>
          <a:xfrm rot="0">
            <a:off x="2446687" y="5888114"/>
            <a:ext cx="13941647" cy="1162808"/>
          </a:xfrm>
          <a:prstGeom prst="rect">
            <a:avLst/>
          </a:prstGeom>
        </p:spPr>
        <p:txBody>
          <a:bodyPr anchor="t" rtlCol="false" tIns="0" lIns="0" bIns="0" rIns="0">
            <a:spAutoFit/>
          </a:bodyPr>
          <a:lstStyle/>
          <a:p>
            <a:pPr algn="l">
              <a:lnSpc>
                <a:spcPts val="4683"/>
              </a:lnSpc>
              <a:spcBef>
                <a:spcPct val="0"/>
              </a:spcBef>
            </a:pPr>
            <a:r>
              <a:rPr lang="en-US" b="true" sz="3345">
                <a:solidFill>
                  <a:srgbClr val="000000"/>
                </a:solidFill>
                <a:latin typeface="Canva Sans Bold"/>
                <a:ea typeface="Canva Sans Bold"/>
                <a:cs typeface="Canva Sans Bold"/>
                <a:sym typeface="Canva Sans Bold"/>
              </a:rPr>
              <a:t>P</a:t>
            </a:r>
            <a:r>
              <a:rPr lang="en-US" b="true" sz="3345">
                <a:solidFill>
                  <a:srgbClr val="000000"/>
                </a:solidFill>
                <a:latin typeface="Canva Sans Bold"/>
                <a:ea typeface="Canva Sans Bold"/>
                <a:cs typeface="Canva Sans Bold"/>
                <a:sym typeface="Canva Sans Bold"/>
              </a:rPr>
              <a:t>roblem statement: </a:t>
            </a:r>
            <a:r>
              <a:rPr lang="en-US" sz="3345">
                <a:solidFill>
                  <a:srgbClr val="000000"/>
                </a:solidFill>
                <a:latin typeface="Canva Sans"/>
                <a:ea typeface="Canva Sans"/>
                <a:cs typeface="Canva Sans"/>
                <a:sym typeface="Canva Sans"/>
              </a:rPr>
              <a:t>AI-DRIVEN ERROR-FREE FORM AUTOMATION PLATFORM.</a:t>
            </a:r>
          </a:p>
        </p:txBody>
      </p:sp>
      <p:sp>
        <p:nvSpPr>
          <p:cNvPr name="TextBox 6" id="6"/>
          <p:cNvSpPr txBox="true"/>
          <p:nvPr/>
        </p:nvSpPr>
        <p:spPr>
          <a:xfrm rot="0">
            <a:off x="2446687" y="7308097"/>
            <a:ext cx="13098332" cy="1144619"/>
          </a:xfrm>
          <a:prstGeom prst="rect">
            <a:avLst/>
          </a:prstGeom>
        </p:spPr>
        <p:txBody>
          <a:bodyPr anchor="t" rtlCol="false" tIns="0" lIns="0" bIns="0" rIns="0">
            <a:spAutoFit/>
          </a:bodyPr>
          <a:lstStyle/>
          <a:p>
            <a:pPr algn="l">
              <a:lnSpc>
                <a:spcPts val="4635"/>
              </a:lnSpc>
              <a:spcBef>
                <a:spcPct val="0"/>
              </a:spcBef>
            </a:pPr>
            <a:r>
              <a:rPr lang="en-US" b="true" sz="3311">
                <a:solidFill>
                  <a:srgbClr val="000000"/>
                </a:solidFill>
                <a:latin typeface="Canva Sans Bold"/>
                <a:ea typeface="Canva Sans Bold"/>
                <a:cs typeface="Canva Sans Bold"/>
                <a:sym typeface="Canva Sans Bold"/>
              </a:rPr>
              <a:t>Unive</a:t>
            </a:r>
            <a:r>
              <a:rPr lang="en-US" b="true" sz="3311">
                <a:solidFill>
                  <a:srgbClr val="000000"/>
                </a:solidFill>
                <a:latin typeface="Canva Sans Bold"/>
                <a:ea typeface="Canva Sans Bold"/>
                <a:cs typeface="Canva Sans Bold"/>
                <a:sym typeface="Canva Sans Bold"/>
              </a:rPr>
              <a:t>rsity/College name: </a:t>
            </a:r>
            <a:r>
              <a:rPr lang="en-US" sz="3311">
                <a:solidFill>
                  <a:srgbClr val="000000"/>
                </a:solidFill>
                <a:latin typeface="Canva Sans"/>
                <a:ea typeface="Canva Sans"/>
                <a:cs typeface="Canva Sans"/>
                <a:sym typeface="Canva Sans"/>
              </a:rPr>
              <a:t>DYP College Kolhapur</a:t>
            </a:r>
          </a:p>
          <a:p>
            <a:pPr algn="l">
              <a:lnSpc>
                <a:spcPts val="4635"/>
              </a:lnSpc>
              <a:spcBef>
                <a:spcPct val="0"/>
              </a:spcBef>
            </a:pPr>
          </a:p>
        </p:txBody>
      </p:sp>
      <p:sp>
        <p:nvSpPr>
          <p:cNvPr name="TextBox 7" id="7"/>
          <p:cNvSpPr txBox="true"/>
          <p:nvPr/>
        </p:nvSpPr>
        <p:spPr>
          <a:xfrm rot="0">
            <a:off x="2317985" y="5076825"/>
            <a:ext cx="9716840" cy="581530"/>
          </a:xfrm>
          <a:prstGeom prst="rect">
            <a:avLst/>
          </a:prstGeom>
        </p:spPr>
        <p:txBody>
          <a:bodyPr anchor="t" rtlCol="false" tIns="0" lIns="0" bIns="0" rIns="0">
            <a:spAutoFit/>
          </a:bodyPr>
          <a:lstStyle/>
          <a:p>
            <a:pPr algn="ctr">
              <a:lnSpc>
                <a:spcPts val="4756"/>
              </a:lnSpc>
              <a:spcBef>
                <a:spcPct val="0"/>
              </a:spcBef>
            </a:pPr>
            <a:r>
              <a:rPr lang="en-US" b="true" sz="3397">
                <a:solidFill>
                  <a:srgbClr val="000000"/>
                </a:solidFill>
                <a:latin typeface="Canva Sans Bold"/>
                <a:ea typeface="Canva Sans Bold"/>
                <a:cs typeface="Canva Sans Bold"/>
                <a:sym typeface="Canva Sans Bold"/>
              </a:rPr>
              <a:t>Problem Statement no : </a:t>
            </a:r>
            <a:r>
              <a:rPr lang="en-US" sz="3397">
                <a:solidFill>
                  <a:srgbClr val="000000"/>
                </a:solidFill>
                <a:latin typeface="Canva Sans"/>
                <a:ea typeface="Canva Sans"/>
                <a:cs typeface="Canva Sans"/>
                <a:sym typeface="Canva Sans"/>
              </a:rPr>
              <a:t>16 (Open Innovation)</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38100" y="544843"/>
            <a:ext cx="7370056" cy="862939"/>
          </a:xfrm>
          <a:prstGeom prst="rect">
            <a:avLst/>
          </a:prstGeom>
        </p:spPr>
        <p:txBody>
          <a:bodyPr anchor="t" rtlCol="false" tIns="0" lIns="0" bIns="0" rIns="0">
            <a:spAutoFit/>
          </a:bodyPr>
          <a:lstStyle/>
          <a:p>
            <a:pPr algn="ctr">
              <a:lnSpc>
                <a:spcPts val="7036"/>
              </a:lnSpc>
              <a:spcBef>
                <a:spcPct val="0"/>
              </a:spcBef>
            </a:pPr>
            <a:r>
              <a:rPr lang="en-US" b="true" sz="5026">
                <a:solidFill>
                  <a:srgbClr val="000000"/>
                </a:solidFill>
                <a:latin typeface="Canva Sans Bold"/>
                <a:ea typeface="Canva Sans Bold"/>
                <a:cs typeface="Canva Sans Bold"/>
                <a:sym typeface="Canva Sans Bold"/>
              </a:rPr>
              <a:t>Problem Statment</a:t>
            </a:r>
          </a:p>
        </p:txBody>
      </p:sp>
      <p:sp>
        <p:nvSpPr>
          <p:cNvPr name="TextBox 4" id="4"/>
          <p:cNvSpPr txBox="true"/>
          <p:nvPr/>
        </p:nvSpPr>
        <p:spPr>
          <a:xfrm rot="0">
            <a:off x="-38100" y="4947280"/>
            <a:ext cx="7370056" cy="872043"/>
          </a:xfrm>
          <a:prstGeom prst="rect">
            <a:avLst/>
          </a:prstGeom>
        </p:spPr>
        <p:txBody>
          <a:bodyPr anchor="t" rtlCol="false" tIns="0" lIns="0" bIns="0" rIns="0">
            <a:spAutoFit/>
          </a:bodyPr>
          <a:lstStyle/>
          <a:p>
            <a:pPr algn="ctr">
              <a:lnSpc>
                <a:spcPts val="7059"/>
              </a:lnSpc>
              <a:spcBef>
                <a:spcPct val="0"/>
              </a:spcBef>
            </a:pPr>
            <a:r>
              <a:rPr lang="en-US" b="true" sz="5042">
                <a:solidFill>
                  <a:srgbClr val="000000"/>
                </a:solidFill>
                <a:latin typeface="Canva Sans Bold"/>
                <a:ea typeface="Canva Sans Bold"/>
                <a:cs typeface="Canva Sans Bold"/>
                <a:sym typeface="Canva Sans Bold"/>
              </a:rPr>
              <a:t>Proposed solution</a:t>
            </a:r>
          </a:p>
        </p:txBody>
      </p:sp>
      <p:sp>
        <p:nvSpPr>
          <p:cNvPr name="TextBox 5" id="5"/>
          <p:cNvSpPr txBox="true"/>
          <p:nvPr/>
        </p:nvSpPr>
        <p:spPr>
          <a:xfrm rot="0">
            <a:off x="948978" y="2008489"/>
            <a:ext cx="16910198" cy="2445936"/>
          </a:xfrm>
          <a:prstGeom prst="rect">
            <a:avLst/>
          </a:prstGeom>
        </p:spPr>
        <p:txBody>
          <a:bodyPr anchor="t" rtlCol="false" tIns="0" lIns="0" bIns="0" rIns="0">
            <a:spAutoFit/>
          </a:bodyPr>
          <a:lstStyle/>
          <a:p>
            <a:pPr algn="l">
              <a:lnSpc>
                <a:spcPts val="3916"/>
              </a:lnSpc>
              <a:spcBef>
                <a:spcPct val="0"/>
              </a:spcBef>
            </a:pPr>
            <a:r>
              <a:rPr lang="en-US" sz="2797">
                <a:solidFill>
                  <a:srgbClr val="000000"/>
                </a:solidFill>
                <a:latin typeface="Canva Sans"/>
                <a:ea typeface="Canva Sans"/>
                <a:cs typeface="Canva Sans"/>
                <a:sym typeface="Canva Sans"/>
              </a:rPr>
              <a:t>Government service portals are often complex, jargon-heavy, and primarily English-based, making it difficult for many citizens—especially regional language users—to correctly understand instructions and fill forms. Small mistakes like typos, incorrect file formats, or missing details frequently lead to application rejections, forcing citizens to spend extra time and money on agents or repeated visits to fix avoidable errors.</a:t>
            </a:r>
          </a:p>
        </p:txBody>
      </p:sp>
      <p:sp>
        <p:nvSpPr>
          <p:cNvPr name="TextBox 6" id="6"/>
          <p:cNvSpPr txBox="true"/>
          <p:nvPr/>
        </p:nvSpPr>
        <p:spPr>
          <a:xfrm rot="0">
            <a:off x="324969" y="6378853"/>
            <a:ext cx="18158216" cy="3441389"/>
          </a:xfrm>
          <a:prstGeom prst="rect">
            <a:avLst/>
          </a:prstGeom>
        </p:spPr>
        <p:txBody>
          <a:bodyPr anchor="t" rtlCol="false" tIns="0" lIns="0" bIns="0" rIns="0">
            <a:spAutoFit/>
          </a:bodyPr>
          <a:lstStyle/>
          <a:p>
            <a:pPr algn="l" marL="526065" indent="-263033" lvl="1">
              <a:lnSpc>
                <a:spcPts val="3411"/>
              </a:lnSpc>
              <a:buFont typeface="Arial"/>
              <a:buChar char="•"/>
            </a:pPr>
            <a:r>
              <a:rPr lang="en-US" sz="2436">
                <a:solidFill>
                  <a:srgbClr val="000000"/>
                </a:solidFill>
                <a:latin typeface="Canva Sans"/>
                <a:ea typeface="Canva Sans"/>
                <a:cs typeface="Canva Sans"/>
                <a:sym typeface="Canva Sans"/>
              </a:rPr>
              <a:t>Develop an AI-powered assistant that simplifies government portal instructions into easy, step-by-step guidance.</a:t>
            </a:r>
          </a:p>
          <a:p>
            <a:pPr algn="l" marL="526065" indent="-263033" lvl="1">
              <a:lnSpc>
                <a:spcPts val="3411"/>
              </a:lnSpc>
              <a:buFont typeface="Arial"/>
              <a:buChar char="•"/>
            </a:pPr>
            <a:r>
              <a:rPr lang="en-US" sz="2436">
                <a:solidFill>
                  <a:srgbClr val="000000"/>
                </a:solidFill>
                <a:latin typeface="Canva Sans"/>
                <a:ea typeface="Canva Sans"/>
                <a:cs typeface="Canva Sans"/>
                <a:sym typeface="Canva Sans"/>
              </a:rPr>
              <a:t>Automatically extract key information from uploaded documents and auto-fill government form fields to reduce manual data entry.</a:t>
            </a:r>
          </a:p>
          <a:p>
            <a:pPr algn="l" marL="526065" indent="-263033" lvl="1">
              <a:lnSpc>
                <a:spcPts val="3411"/>
              </a:lnSpc>
              <a:buFont typeface="Arial"/>
              <a:buChar char="•"/>
            </a:pPr>
            <a:r>
              <a:rPr lang="en-US" sz="2436">
                <a:solidFill>
                  <a:srgbClr val="000000"/>
                </a:solidFill>
                <a:latin typeface="Canva Sans"/>
                <a:ea typeface="Canva Sans"/>
                <a:cs typeface="Canva Sans"/>
                <a:sym typeface="Canva Sans"/>
              </a:rPr>
              <a:t>Implement smart document checker that verifies file size, format, and clarity before upload.</a:t>
            </a:r>
          </a:p>
          <a:p>
            <a:pPr algn="l" marL="526065" indent="-263033" lvl="1">
              <a:lnSpc>
                <a:spcPts val="3411"/>
              </a:lnSpc>
              <a:buFont typeface="Arial"/>
              <a:buChar char="•"/>
            </a:pPr>
            <a:r>
              <a:rPr lang="en-US" sz="2436">
                <a:solidFill>
                  <a:srgbClr val="000000"/>
                </a:solidFill>
                <a:latin typeface="Canva Sans"/>
                <a:ea typeface="Canva Sans"/>
                <a:cs typeface="Canva Sans"/>
                <a:sym typeface="Canva Sans"/>
              </a:rPr>
              <a:t>Provide real-time form validation to detect errors like typos, missing fields, or incorrect formats before submission.</a:t>
            </a:r>
          </a:p>
          <a:p>
            <a:pPr algn="l" marL="526065" indent="-263033" lvl="1">
              <a:lnSpc>
                <a:spcPts val="3411"/>
              </a:lnSpc>
              <a:buFont typeface="Arial"/>
              <a:buChar char="•"/>
            </a:pPr>
            <a:r>
              <a:rPr lang="en-US" sz="2436">
                <a:solidFill>
                  <a:srgbClr val="000000"/>
                </a:solidFill>
                <a:latin typeface="Canva Sans"/>
                <a:ea typeface="Canva Sans"/>
                <a:cs typeface="Canva Sans"/>
                <a:sym typeface="Canva Sans"/>
              </a:rPr>
              <a:t>Integrate multilingual support (Marathi + other regional languages) to help users understand instructions clearly.</a:t>
            </a:r>
          </a:p>
          <a:p>
            <a:pPr algn="l" marL="526065" indent="-263033" lvl="1">
              <a:lnSpc>
                <a:spcPts val="3411"/>
              </a:lnSpc>
              <a:buFont typeface="Arial"/>
              <a:buChar char="•"/>
            </a:pPr>
            <a:r>
              <a:rPr lang="en-US" sz="2436">
                <a:solidFill>
                  <a:srgbClr val="000000"/>
                </a:solidFill>
                <a:latin typeface="Canva Sans"/>
                <a:ea typeface="Canva Sans"/>
                <a:cs typeface="Canva Sans"/>
                <a:sym typeface="Canva Sans"/>
              </a:rPr>
              <a:t>Use voice guidance and text-to-speech so low-literacy users can navigate forms easily.</a:t>
            </a:r>
          </a:p>
          <a:p>
            <a:pPr algn="l">
              <a:lnSpc>
                <a:spcPts val="3411"/>
              </a:lnSpc>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8992552" y="5934075"/>
            <a:ext cx="111442" cy="108585"/>
            <a:chOff x="0" y="0"/>
            <a:chExt cx="148590" cy="144780"/>
          </a:xfrm>
        </p:grpSpPr>
        <p:sp>
          <p:nvSpPr>
            <p:cNvPr name="Freeform 4" id="4"/>
            <p:cNvSpPr/>
            <p:nvPr/>
          </p:nvSpPr>
          <p:spPr>
            <a:xfrm flipH="false" flipV="false" rot="0">
              <a:off x="49280" y="49054"/>
              <a:ext cx="48510" cy="40785"/>
            </a:xfrm>
            <a:custGeom>
              <a:avLst/>
              <a:gdLst/>
              <a:ahLst/>
              <a:cxnLst/>
              <a:rect r="r" b="b" t="t" l="l"/>
              <a:pathLst>
                <a:path h="40785" w="48510">
                  <a:moveTo>
                    <a:pt x="48510" y="14446"/>
                  </a:moveTo>
                  <a:cubicBezTo>
                    <a:pt x="26920" y="48736"/>
                    <a:pt x="6600" y="42386"/>
                    <a:pt x="1520" y="34766"/>
                  </a:cubicBezTo>
                  <a:cubicBezTo>
                    <a:pt x="-2290" y="28416"/>
                    <a:pt x="1520" y="6826"/>
                    <a:pt x="7870" y="1746"/>
                  </a:cubicBezTo>
                  <a:cubicBezTo>
                    <a:pt x="14220" y="-3334"/>
                    <a:pt x="42160" y="4286"/>
                    <a:pt x="42160" y="4286"/>
                  </a:cubicBezTo>
                </a:path>
              </a:pathLst>
            </a:custGeom>
            <a:solidFill>
              <a:srgbClr val="D3050B"/>
            </a:solidFill>
            <a:ln cap="sq">
              <a:noFill/>
              <a:prstDash val="solid"/>
              <a:miter/>
            </a:ln>
          </p:spPr>
        </p:sp>
      </p:grpSp>
      <p:grpSp>
        <p:nvGrpSpPr>
          <p:cNvPr name="Group 5" id="5"/>
          <p:cNvGrpSpPr/>
          <p:nvPr/>
        </p:nvGrpSpPr>
        <p:grpSpPr>
          <a:xfrm rot="0">
            <a:off x="9333548" y="5804535"/>
            <a:ext cx="111442" cy="108585"/>
            <a:chOff x="0" y="0"/>
            <a:chExt cx="148590" cy="144780"/>
          </a:xfrm>
        </p:grpSpPr>
        <p:sp>
          <p:nvSpPr>
            <p:cNvPr name="Freeform 6" id="6"/>
            <p:cNvSpPr/>
            <p:nvPr/>
          </p:nvSpPr>
          <p:spPr>
            <a:xfrm flipH="false" flipV="false" rot="0">
              <a:off x="49280" y="49054"/>
              <a:ext cx="47240" cy="40785"/>
            </a:xfrm>
            <a:custGeom>
              <a:avLst/>
              <a:gdLst/>
              <a:ahLst/>
              <a:cxnLst/>
              <a:rect r="r" b="b" t="t" l="l"/>
              <a:pathLst>
                <a:path h="40785" w="47240">
                  <a:moveTo>
                    <a:pt x="47240" y="14446"/>
                  </a:moveTo>
                  <a:cubicBezTo>
                    <a:pt x="26920" y="48736"/>
                    <a:pt x="6600" y="42386"/>
                    <a:pt x="1520" y="34766"/>
                  </a:cubicBezTo>
                  <a:cubicBezTo>
                    <a:pt x="-2290" y="28416"/>
                    <a:pt x="1520" y="6826"/>
                    <a:pt x="7870" y="1746"/>
                  </a:cubicBezTo>
                  <a:cubicBezTo>
                    <a:pt x="14220" y="-3334"/>
                    <a:pt x="40890" y="4286"/>
                    <a:pt x="40890" y="4286"/>
                  </a:cubicBezTo>
                </a:path>
              </a:pathLst>
            </a:custGeom>
            <a:solidFill>
              <a:srgbClr val="D3050B"/>
            </a:solidFill>
            <a:ln cap="sq">
              <a:noFill/>
              <a:prstDash val="solid"/>
              <a:miter/>
            </a:ln>
          </p:spPr>
        </p:sp>
      </p:grpSp>
      <p:grpSp>
        <p:nvGrpSpPr>
          <p:cNvPr name="Group 7" id="7"/>
          <p:cNvGrpSpPr/>
          <p:nvPr/>
        </p:nvGrpSpPr>
        <p:grpSpPr>
          <a:xfrm rot="0">
            <a:off x="8035290" y="3646170"/>
            <a:ext cx="111442" cy="108585"/>
            <a:chOff x="0" y="0"/>
            <a:chExt cx="148590" cy="144780"/>
          </a:xfrm>
        </p:grpSpPr>
        <p:sp>
          <p:nvSpPr>
            <p:cNvPr name="Freeform 8" id="8"/>
            <p:cNvSpPr/>
            <p:nvPr/>
          </p:nvSpPr>
          <p:spPr>
            <a:xfrm flipH="false" flipV="false" rot="0">
              <a:off x="48487" y="48273"/>
              <a:ext cx="48033" cy="40567"/>
            </a:xfrm>
            <a:custGeom>
              <a:avLst/>
              <a:gdLst/>
              <a:ahLst/>
              <a:cxnLst/>
              <a:rect r="r" b="b" t="t" l="l"/>
              <a:pathLst>
                <a:path h="40567" w="48033">
                  <a:moveTo>
                    <a:pt x="48033" y="13957"/>
                  </a:moveTo>
                  <a:cubicBezTo>
                    <a:pt x="26443" y="48247"/>
                    <a:pt x="6123" y="41897"/>
                    <a:pt x="2313" y="35547"/>
                  </a:cubicBezTo>
                  <a:cubicBezTo>
                    <a:pt x="-2767" y="27927"/>
                    <a:pt x="1043" y="7607"/>
                    <a:pt x="8663" y="2527"/>
                  </a:cubicBezTo>
                  <a:cubicBezTo>
                    <a:pt x="15013" y="-3823"/>
                    <a:pt x="41683" y="3797"/>
                    <a:pt x="41683" y="3797"/>
                  </a:cubicBezTo>
                </a:path>
              </a:pathLst>
            </a:custGeom>
            <a:solidFill>
              <a:srgbClr val="D3050B"/>
            </a:solidFill>
            <a:ln cap="sq">
              <a:noFill/>
              <a:prstDash val="solid"/>
              <a:miter/>
            </a:ln>
          </p:spPr>
        </p:sp>
      </p:grpSp>
      <p:grpSp>
        <p:nvGrpSpPr>
          <p:cNvPr name="Group 9" id="9"/>
          <p:cNvGrpSpPr/>
          <p:nvPr/>
        </p:nvGrpSpPr>
        <p:grpSpPr>
          <a:xfrm rot="0">
            <a:off x="8035290" y="3173402"/>
            <a:ext cx="10077322" cy="5282614"/>
            <a:chOff x="0" y="0"/>
            <a:chExt cx="2654109" cy="1391306"/>
          </a:xfrm>
        </p:grpSpPr>
        <p:sp>
          <p:nvSpPr>
            <p:cNvPr name="Freeform 10" id="10"/>
            <p:cNvSpPr/>
            <p:nvPr/>
          </p:nvSpPr>
          <p:spPr>
            <a:xfrm flipH="false" flipV="false" rot="0">
              <a:off x="0" y="0"/>
              <a:ext cx="2654110" cy="1391306"/>
            </a:xfrm>
            <a:custGeom>
              <a:avLst/>
              <a:gdLst/>
              <a:ahLst/>
              <a:cxnLst/>
              <a:rect r="r" b="b" t="t" l="l"/>
              <a:pathLst>
                <a:path h="1391306" w="2654110">
                  <a:moveTo>
                    <a:pt x="21511" y="0"/>
                  </a:moveTo>
                  <a:lnTo>
                    <a:pt x="2632598" y="0"/>
                  </a:lnTo>
                  <a:cubicBezTo>
                    <a:pt x="2644479" y="0"/>
                    <a:pt x="2654110" y="9631"/>
                    <a:pt x="2654110" y="21511"/>
                  </a:cubicBezTo>
                  <a:lnTo>
                    <a:pt x="2654110" y="1369795"/>
                  </a:lnTo>
                  <a:cubicBezTo>
                    <a:pt x="2654110" y="1381675"/>
                    <a:pt x="2644479" y="1391306"/>
                    <a:pt x="2632598" y="1391306"/>
                  </a:cubicBezTo>
                  <a:lnTo>
                    <a:pt x="21511" y="1391306"/>
                  </a:lnTo>
                  <a:cubicBezTo>
                    <a:pt x="15806" y="1391306"/>
                    <a:pt x="10335" y="1389039"/>
                    <a:pt x="6300" y="1385005"/>
                  </a:cubicBezTo>
                  <a:cubicBezTo>
                    <a:pt x="2266" y="1380971"/>
                    <a:pt x="0" y="1375500"/>
                    <a:pt x="0" y="1369795"/>
                  </a:cubicBezTo>
                  <a:lnTo>
                    <a:pt x="0" y="21511"/>
                  </a:lnTo>
                  <a:cubicBezTo>
                    <a:pt x="0" y="9631"/>
                    <a:pt x="9631" y="0"/>
                    <a:pt x="21511" y="0"/>
                  </a:cubicBezTo>
                  <a:close/>
                </a:path>
              </a:pathLst>
            </a:custGeom>
            <a:solidFill>
              <a:srgbClr val="C5CAE9">
                <a:alpha val="44706"/>
              </a:srgbClr>
            </a:solidFill>
            <a:ln w="47625" cap="rnd">
              <a:solidFill>
                <a:srgbClr val="000000">
                  <a:alpha val="44706"/>
                </a:srgbClr>
              </a:solidFill>
              <a:prstDash val="solid"/>
              <a:round/>
            </a:ln>
          </p:spPr>
        </p:sp>
        <p:sp>
          <p:nvSpPr>
            <p:cNvPr name="TextBox 11" id="11"/>
            <p:cNvSpPr txBox="true"/>
            <p:nvPr/>
          </p:nvSpPr>
          <p:spPr>
            <a:xfrm>
              <a:off x="0" y="-57150"/>
              <a:ext cx="2654109" cy="1448456"/>
            </a:xfrm>
            <a:prstGeom prst="rect">
              <a:avLst/>
            </a:prstGeom>
          </p:spPr>
          <p:txBody>
            <a:bodyPr anchor="ctr" rtlCol="false" tIns="50800" lIns="50800" bIns="50800" rIns="50800"/>
            <a:lstStyle/>
            <a:p>
              <a:pPr algn="ctr">
                <a:lnSpc>
                  <a:spcPts val="3639"/>
                </a:lnSpc>
              </a:pPr>
            </a:p>
          </p:txBody>
        </p:sp>
      </p:grpSp>
      <p:grpSp>
        <p:nvGrpSpPr>
          <p:cNvPr name="Group 12" id="12"/>
          <p:cNvGrpSpPr/>
          <p:nvPr/>
        </p:nvGrpSpPr>
        <p:grpSpPr>
          <a:xfrm rot="0">
            <a:off x="240983" y="2157412"/>
            <a:ext cx="7565707" cy="7680007"/>
            <a:chOff x="0" y="0"/>
            <a:chExt cx="1992614" cy="2022718"/>
          </a:xfrm>
        </p:grpSpPr>
        <p:sp>
          <p:nvSpPr>
            <p:cNvPr name="Freeform 13" id="13"/>
            <p:cNvSpPr/>
            <p:nvPr/>
          </p:nvSpPr>
          <p:spPr>
            <a:xfrm flipH="false" flipV="false" rot="0">
              <a:off x="0" y="0"/>
              <a:ext cx="1992614" cy="2022718"/>
            </a:xfrm>
            <a:custGeom>
              <a:avLst/>
              <a:gdLst/>
              <a:ahLst/>
              <a:cxnLst/>
              <a:rect r="r" b="b" t="t" l="l"/>
              <a:pathLst>
                <a:path h="2022718" w="1992614">
                  <a:moveTo>
                    <a:pt x="20466" y="0"/>
                  </a:moveTo>
                  <a:lnTo>
                    <a:pt x="1972149" y="0"/>
                  </a:lnTo>
                  <a:cubicBezTo>
                    <a:pt x="1983452" y="0"/>
                    <a:pt x="1992614" y="9163"/>
                    <a:pt x="1992614" y="20466"/>
                  </a:cubicBezTo>
                  <a:lnTo>
                    <a:pt x="1992614" y="2002252"/>
                  </a:lnTo>
                  <a:cubicBezTo>
                    <a:pt x="1992614" y="2013555"/>
                    <a:pt x="1983452" y="2022718"/>
                    <a:pt x="1972149" y="2022718"/>
                  </a:cubicBezTo>
                  <a:lnTo>
                    <a:pt x="20466" y="2022718"/>
                  </a:lnTo>
                  <a:cubicBezTo>
                    <a:pt x="9163" y="2022718"/>
                    <a:pt x="0" y="2013555"/>
                    <a:pt x="0" y="2002252"/>
                  </a:cubicBezTo>
                  <a:lnTo>
                    <a:pt x="0" y="20466"/>
                  </a:lnTo>
                  <a:cubicBezTo>
                    <a:pt x="0" y="9163"/>
                    <a:pt x="9163" y="0"/>
                    <a:pt x="20466" y="0"/>
                  </a:cubicBezTo>
                  <a:close/>
                </a:path>
              </a:pathLst>
            </a:custGeom>
            <a:solidFill>
              <a:srgbClr val="C5CAE9">
                <a:alpha val="44706"/>
              </a:srgbClr>
            </a:solidFill>
            <a:ln w="38100" cap="sq">
              <a:solidFill>
                <a:srgbClr val="000000">
                  <a:alpha val="44706"/>
                </a:srgbClr>
              </a:solidFill>
              <a:prstDash val="solid"/>
              <a:miter/>
            </a:ln>
          </p:spPr>
        </p:sp>
        <p:sp>
          <p:nvSpPr>
            <p:cNvPr name="TextBox 14" id="14"/>
            <p:cNvSpPr txBox="true"/>
            <p:nvPr/>
          </p:nvSpPr>
          <p:spPr>
            <a:xfrm>
              <a:off x="0" y="-57150"/>
              <a:ext cx="1992614" cy="2079868"/>
            </a:xfrm>
            <a:prstGeom prst="rect">
              <a:avLst/>
            </a:prstGeom>
          </p:spPr>
          <p:txBody>
            <a:bodyPr anchor="ctr" rtlCol="false" tIns="50800" lIns="50800" bIns="50800" rIns="50800"/>
            <a:lstStyle/>
            <a:p>
              <a:pPr algn="ctr">
                <a:lnSpc>
                  <a:spcPts val="3639"/>
                </a:lnSpc>
              </a:pPr>
            </a:p>
          </p:txBody>
        </p:sp>
      </p:grpSp>
      <p:sp>
        <p:nvSpPr>
          <p:cNvPr name="TextBox 15" id="15"/>
          <p:cNvSpPr txBox="true"/>
          <p:nvPr/>
        </p:nvSpPr>
        <p:spPr>
          <a:xfrm rot="0">
            <a:off x="315092" y="2129883"/>
            <a:ext cx="7417489" cy="7593145"/>
          </a:xfrm>
          <a:prstGeom prst="rect">
            <a:avLst/>
          </a:prstGeom>
        </p:spPr>
        <p:txBody>
          <a:bodyPr anchor="t" rtlCol="false" tIns="0" lIns="0" bIns="0" rIns="0">
            <a:spAutoFit/>
          </a:bodyPr>
          <a:lstStyle/>
          <a:p>
            <a:pPr algn="l" marL="552121" indent="-276060" lvl="1">
              <a:lnSpc>
                <a:spcPts val="3580"/>
              </a:lnSpc>
              <a:buFont typeface="Arial"/>
              <a:buChar char="•"/>
            </a:pPr>
            <a:r>
              <a:rPr lang="en-US" sz="2557">
                <a:solidFill>
                  <a:srgbClr val="000000"/>
                </a:solidFill>
                <a:latin typeface="Canva Sans"/>
                <a:ea typeface="Canva Sans"/>
                <a:cs typeface="Canva Sans"/>
                <a:sym typeface="Canva Sans"/>
              </a:rPr>
              <a:t>AI extracts data, auto-fills forms, and ensures error-free government applications.</a:t>
            </a:r>
          </a:p>
          <a:p>
            <a:pPr algn="l" marL="552121" indent="-276060" lvl="1">
              <a:lnSpc>
                <a:spcPts val="3580"/>
              </a:lnSpc>
              <a:buFont typeface="Arial"/>
              <a:buChar char="•"/>
            </a:pPr>
            <a:r>
              <a:rPr lang="en-US" sz="2557">
                <a:solidFill>
                  <a:srgbClr val="000000"/>
                </a:solidFill>
                <a:latin typeface="Canva Sans"/>
                <a:ea typeface="Canva Sans"/>
                <a:cs typeface="Canva Sans"/>
                <a:sym typeface="Canva Sans"/>
              </a:rPr>
              <a:t>  </a:t>
            </a:r>
            <a:r>
              <a:rPr lang="en-US" sz="2557">
                <a:solidFill>
                  <a:srgbClr val="000000"/>
                </a:solidFill>
                <a:latin typeface="Canva Sans"/>
                <a:ea typeface="Canva Sans"/>
                <a:cs typeface="Canva Sans"/>
                <a:sym typeface="Canva Sans"/>
              </a:rPr>
              <a:t>Detects typos, missing fields, and wrong data.</a:t>
            </a:r>
          </a:p>
          <a:p>
            <a:pPr algn="l" marL="552121" indent="-276060" lvl="1">
              <a:lnSpc>
                <a:spcPts val="3580"/>
              </a:lnSpc>
              <a:buFont typeface="Arial"/>
              <a:buChar char="•"/>
            </a:pPr>
            <a:r>
              <a:rPr lang="en-US" sz="2557">
                <a:solidFill>
                  <a:srgbClr val="000000"/>
                </a:solidFill>
                <a:latin typeface="Canva Sans"/>
                <a:ea typeface="Canva Sans"/>
                <a:cs typeface="Canva Sans"/>
                <a:sym typeface="Canva Sans"/>
              </a:rPr>
              <a:t>  Validates form data using government rules.</a:t>
            </a:r>
          </a:p>
          <a:p>
            <a:pPr algn="l" marL="552121" indent="-276060" lvl="1">
              <a:lnSpc>
                <a:spcPts val="3580"/>
              </a:lnSpc>
              <a:buFont typeface="Arial"/>
              <a:buChar char="•"/>
            </a:pPr>
            <a:r>
              <a:rPr lang="en-US" sz="2557">
                <a:solidFill>
                  <a:srgbClr val="000000"/>
                </a:solidFill>
                <a:latin typeface="Canva Sans"/>
                <a:ea typeface="Canva Sans"/>
                <a:cs typeface="Canva Sans"/>
                <a:sym typeface="Canva Sans"/>
              </a:rPr>
              <a:t>  Reuses previously verified user information automatically.</a:t>
            </a:r>
          </a:p>
          <a:p>
            <a:pPr algn="l" marL="552121" indent="-276060" lvl="1">
              <a:lnSpc>
                <a:spcPts val="3580"/>
              </a:lnSpc>
              <a:buFont typeface="Arial"/>
              <a:buChar char="•"/>
            </a:pPr>
            <a:r>
              <a:rPr lang="en-US" sz="2557">
                <a:solidFill>
                  <a:srgbClr val="000000"/>
                </a:solidFill>
                <a:latin typeface="Canva Sans"/>
                <a:ea typeface="Canva Sans"/>
                <a:cs typeface="Canva Sans"/>
                <a:sym typeface="Canva Sans"/>
              </a:rPr>
              <a:t>Users enter details or upload documents easily.</a:t>
            </a:r>
          </a:p>
          <a:p>
            <a:pPr algn="l" marL="552121" indent="-276060" lvl="1">
              <a:lnSpc>
                <a:spcPts val="3580"/>
              </a:lnSpc>
              <a:buFont typeface="Arial"/>
              <a:buChar char="•"/>
            </a:pPr>
            <a:r>
              <a:rPr lang="en-US" sz="2557">
                <a:solidFill>
                  <a:srgbClr val="000000"/>
                </a:solidFill>
                <a:latin typeface="Canva Sans"/>
                <a:ea typeface="Canva Sans"/>
                <a:cs typeface="Canva Sans"/>
                <a:sym typeface="Canva Sans"/>
              </a:rPr>
              <a:t> System securely processes user data and requests.</a:t>
            </a:r>
          </a:p>
          <a:p>
            <a:pPr algn="l" marL="552121" indent="-276060" lvl="1">
              <a:lnSpc>
                <a:spcPts val="3580"/>
              </a:lnSpc>
              <a:buFont typeface="Arial"/>
              <a:buChar char="•"/>
            </a:pPr>
            <a:r>
              <a:rPr lang="en-US" sz="2557">
                <a:solidFill>
                  <a:srgbClr val="000000"/>
                </a:solidFill>
                <a:latin typeface="Canva Sans"/>
                <a:ea typeface="Canva Sans"/>
                <a:cs typeface="Canva Sans"/>
                <a:sym typeface="Canva Sans"/>
              </a:rPr>
              <a:t> Important information extracted automatically from documents.</a:t>
            </a:r>
          </a:p>
          <a:p>
            <a:pPr algn="l" marL="552121" indent="-276060" lvl="1">
              <a:lnSpc>
                <a:spcPts val="3580"/>
              </a:lnSpc>
              <a:buFont typeface="Arial"/>
              <a:buChar char="•"/>
            </a:pPr>
            <a:r>
              <a:rPr lang="en-US" sz="2557">
                <a:solidFill>
                  <a:srgbClr val="000000"/>
                </a:solidFill>
                <a:latin typeface="Canva Sans"/>
                <a:ea typeface="Canva Sans"/>
                <a:cs typeface="Canva Sans"/>
                <a:sym typeface="Canva Sans"/>
              </a:rPr>
              <a:t>  Final application securely stored and ready submission</a:t>
            </a:r>
          </a:p>
        </p:txBody>
      </p:sp>
      <p:grpSp>
        <p:nvGrpSpPr>
          <p:cNvPr name="Group 16" id="16"/>
          <p:cNvGrpSpPr/>
          <p:nvPr/>
        </p:nvGrpSpPr>
        <p:grpSpPr>
          <a:xfrm rot="0">
            <a:off x="5974080" y="480060"/>
            <a:ext cx="111442" cy="108585"/>
            <a:chOff x="0" y="0"/>
            <a:chExt cx="148590" cy="144780"/>
          </a:xfrm>
        </p:grpSpPr>
        <p:sp>
          <p:nvSpPr>
            <p:cNvPr name="Freeform 17" id="17"/>
            <p:cNvSpPr/>
            <p:nvPr/>
          </p:nvSpPr>
          <p:spPr>
            <a:xfrm flipH="false" flipV="false" rot="0">
              <a:off x="48446" y="49054"/>
              <a:ext cx="48074" cy="41056"/>
            </a:xfrm>
            <a:custGeom>
              <a:avLst/>
              <a:gdLst/>
              <a:ahLst/>
              <a:cxnLst/>
              <a:rect r="r" b="b" t="t" l="l"/>
              <a:pathLst>
                <a:path h="41056" w="48074">
                  <a:moveTo>
                    <a:pt x="48074" y="14446"/>
                  </a:moveTo>
                  <a:cubicBezTo>
                    <a:pt x="26484" y="48736"/>
                    <a:pt x="6164" y="42386"/>
                    <a:pt x="2354" y="36036"/>
                  </a:cubicBezTo>
                  <a:cubicBezTo>
                    <a:pt x="-2726" y="28416"/>
                    <a:pt x="1084" y="8096"/>
                    <a:pt x="7434" y="1746"/>
                  </a:cubicBezTo>
                  <a:cubicBezTo>
                    <a:pt x="15054" y="-3334"/>
                    <a:pt x="41724" y="4286"/>
                    <a:pt x="41724" y="4286"/>
                  </a:cubicBezTo>
                </a:path>
              </a:pathLst>
            </a:custGeom>
            <a:solidFill>
              <a:srgbClr val="D3050B"/>
            </a:solidFill>
            <a:ln cap="sq">
              <a:noFill/>
              <a:prstDash val="solid"/>
              <a:miter/>
            </a:ln>
          </p:spPr>
        </p:sp>
      </p:grpSp>
      <p:sp>
        <p:nvSpPr>
          <p:cNvPr name="Freeform 18" id="18"/>
          <p:cNvSpPr/>
          <p:nvPr/>
        </p:nvSpPr>
        <p:spPr>
          <a:xfrm flipH="false" flipV="false" rot="0">
            <a:off x="8206351" y="3366682"/>
            <a:ext cx="9735201" cy="4871471"/>
          </a:xfrm>
          <a:custGeom>
            <a:avLst/>
            <a:gdLst/>
            <a:ahLst/>
            <a:cxnLst/>
            <a:rect r="r" b="b" t="t" l="l"/>
            <a:pathLst>
              <a:path h="4871471" w="9735201">
                <a:moveTo>
                  <a:pt x="0" y="0"/>
                </a:moveTo>
                <a:lnTo>
                  <a:pt x="9735200" y="0"/>
                </a:lnTo>
                <a:lnTo>
                  <a:pt x="9735200" y="4871471"/>
                </a:lnTo>
                <a:lnTo>
                  <a:pt x="0" y="4871471"/>
                </a:lnTo>
                <a:lnTo>
                  <a:pt x="0" y="0"/>
                </a:lnTo>
                <a:close/>
              </a:path>
            </a:pathLst>
          </a:custGeom>
          <a:blipFill>
            <a:blip r:embed="rId3"/>
            <a:stretch>
              <a:fillRect l="0" t="-9163" r="0" b="0"/>
            </a:stretch>
          </a:blipFill>
          <a:ln w="28575" cap="rnd">
            <a:solidFill>
              <a:srgbClr val="000000"/>
            </a:solidFill>
            <a:prstDash val="solid"/>
            <a:round/>
          </a:ln>
        </p:spPr>
      </p:sp>
      <p:sp>
        <p:nvSpPr>
          <p:cNvPr name="TextBox 19" id="19"/>
          <p:cNvSpPr txBox="true"/>
          <p:nvPr/>
        </p:nvSpPr>
        <p:spPr>
          <a:xfrm rot="0">
            <a:off x="688658" y="514236"/>
            <a:ext cx="6984864" cy="871016"/>
          </a:xfrm>
          <a:prstGeom prst="rect">
            <a:avLst/>
          </a:prstGeom>
        </p:spPr>
        <p:txBody>
          <a:bodyPr anchor="t" rtlCol="false" tIns="0" lIns="0" bIns="0" rIns="0">
            <a:spAutoFit/>
          </a:bodyPr>
          <a:lstStyle/>
          <a:p>
            <a:pPr algn="ctr">
              <a:lnSpc>
                <a:spcPts val="7116"/>
              </a:lnSpc>
              <a:spcBef>
                <a:spcPct val="0"/>
              </a:spcBef>
            </a:pPr>
            <a:r>
              <a:rPr lang="en-US" b="true" sz="5083">
                <a:solidFill>
                  <a:srgbClr val="000000"/>
                </a:solidFill>
                <a:latin typeface="Canva Sans Bold"/>
                <a:ea typeface="Canva Sans Bold"/>
                <a:cs typeface="Canva Sans Bold"/>
                <a:sym typeface="Canva Sans Bold"/>
              </a:rPr>
              <a:t>Implementation Plan </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372670" y="3074512"/>
            <a:ext cx="17542661" cy="6183788"/>
          </a:xfrm>
          <a:custGeom>
            <a:avLst/>
            <a:gdLst/>
            <a:ahLst/>
            <a:cxnLst/>
            <a:rect r="r" b="b" t="t" l="l"/>
            <a:pathLst>
              <a:path h="6183788" w="17542661">
                <a:moveTo>
                  <a:pt x="0" y="0"/>
                </a:moveTo>
                <a:lnTo>
                  <a:pt x="17542660" y="0"/>
                </a:lnTo>
                <a:lnTo>
                  <a:pt x="17542660" y="6183788"/>
                </a:lnTo>
                <a:lnTo>
                  <a:pt x="0" y="6183788"/>
                </a:lnTo>
                <a:lnTo>
                  <a:pt x="0" y="0"/>
                </a:lnTo>
                <a:close/>
              </a:path>
            </a:pathLst>
          </a:custGeom>
          <a:blipFill>
            <a:blip r:embed="rId3"/>
            <a:stretch>
              <a:fillRect l="0" t="0" r="0" b="0"/>
            </a:stretch>
          </a:blipFill>
          <a:ln w="38100" cap="rnd">
            <a:solidFill>
              <a:srgbClr val="000000"/>
            </a:solidFill>
            <a:prstDash val="solid"/>
            <a:round/>
          </a:ln>
        </p:spPr>
      </p:sp>
      <p:sp>
        <p:nvSpPr>
          <p:cNvPr name="TextBox 4" id="4"/>
          <p:cNvSpPr txBox="true"/>
          <p:nvPr/>
        </p:nvSpPr>
        <p:spPr>
          <a:xfrm rot="0">
            <a:off x="58345" y="544453"/>
            <a:ext cx="5614353" cy="854195"/>
          </a:xfrm>
          <a:prstGeom prst="rect">
            <a:avLst/>
          </a:prstGeom>
        </p:spPr>
        <p:txBody>
          <a:bodyPr anchor="t" rtlCol="false" tIns="0" lIns="0" bIns="0" rIns="0">
            <a:spAutoFit/>
          </a:bodyPr>
          <a:lstStyle/>
          <a:p>
            <a:pPr algn="ctr">
              <a:lnSpc>
                <a:spcPts val="6993"/>
              </a:lnSpc>
              <a:spcBef>
                <a:spcPct val="0"/>
              </a:spcBef>
            </a:pPr>
            <a:r>
              <a:rPr lang="en-US" b="true" sz="4995">
                <a:solidFill>
                  <a:srgbClr val="000000"/>
                </a:solidFill>
                <a:latin typeface="Canva Sans Bold"/>
                <a:ea typeface="Canva Sans Bold"/>
                <a:cs typeface="Canva Sans Bold"/>
                <a:sym typeface="Canva Sans Bold"/>
              </a:rPr>
              <a:t>Flow Diagram</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6746692" y="4433617"/>
            <a:ext cx="2275568" cy="790376"/>
          </a:xfrm>
          <a:custGeom>
            <a:avLst/>
            <a:gdLst/>
            <a:ahLst/>
            <a:cxnLst/>
            <a:rect r="r" b="b" t="t" l="l"/>
            <a:pathLst>
              <a:path h="790376" w="2275568">
                <a:moveTo>
                  <a:pt x="0" y="0"/>
                </a:moveTo>
                <a:lnTo>
                  <a:pt x="2275567" y="0"/>
                </a:lnTo>
                <a:lnTo>
                  <a:pt x="2275567" y="790376"/>
                </a:lnTo>
                <a:lnTo>
                  <a:pt x="0" y="790376"/>
                </a:lnTo>
                <a:lnTo>
                  <a:pt x="0" y="0"/>
                </a:lnTo>
                <a:close/>
              </a:path>
            </a:pathLst>
          </a:custGeom>
          <a:blipFill>
            <a:blip r:embed="rId2"/>
            <a:stretch>
              <a:fillRect l="-289786" t="-541668" r="-413880" b="-659864"/>
            </a:stretch>
          </a:blipFill>
        </p:spPr>
      </p:sp>
      <p:sp>
        <p:nvSpPr>
          <p:cNvPr name="Freeform 4" id="4"/>
          <p:cNvSpPr/>
          <p:nvPr/>
        </p:nvSpPr>
        <p:spPr>
          <a:xfrm flipH="false" flipV="false" rot="0">
            <a:off x="6746692" y="5366868"/>
            <a:ext cx="2275568" cy="912961"/>
          </a:xfrm>
          <a:custGeom>
            <a:avLst/>
            <a:gdLst/>
            <a:ahLst/>
            <a:cxnLst/>
            <a:rect r="r" b="b" t="t" l="l"/>
            <a:pathLst>
              <a:path h="912961" w="2275568">
                <a:moveTo>
                  <a:pt x="0" y="0"/>
                </a:moveTo>
                <a:lnTo>
                  <a:pt x="2275567" y="0"/>
                </a:lnTo>
                <a:lnTo>
                  <a:pt x="2275567" y="912961"/>
                </a:lnTo>
                <a:lnTo>
                  <a:pt x="0" y="912961"/>
                </a:lnTo>
                <a:lnTo>
                  <a:pt x="0" y="0"/>
                </a:lnTo>
                <a:close/>
              </a:path>
            </a:pathLst>
          </a:custGeom>
          <a:blipFill>
            <a:blip r:embed="rId2"/>
            <a:stretch>
              <a:fillRect l="-296483" t="-564503" r="-407183" b="-462270"/>
            </a:stretch>
          </a:blipFill>
        </p:spPr>
      </p:sp>
      <p:sp>
        <p:nvSpPr>
          <p:cNvPr name="Freeform 5" id="5"/>
          <p:cNvSpPr/>
          <p:nvPr/>
        </p:nvSpPr>
        <p:spPr>
          <a:xfrm flipH="false" flipV="false" rot="0">
            <a:off x="6746692" y="6421860"/>
            <a:ext cx="2275568" cy="912961"/>
          </a:xfrm>
          <a:custGeom>
            <a:avLst/>
            <a:gdLst/>
            <a:ahLst/>
            <a:cxnLst/>
            <a:rect r="r" b="b" t="t" l="l"/>
            <a:pathLst>
              <a:path h="912961" w="2275568">
                <a:moveTo>
                  <a:pt x="0" y="0"/>
                </a:moveTo>
                <a:lnTo>
                  <a:pt x="2275567" y="0"/>
                </a:lnTo>
                <a:lnTo>
                  <a:pt x="2275567" y="912960"/>
                </a:lnTo>
                <a:lnTo>
                  <a:pt x="0" y="912960"/>
                </a:lnTo>
                <a:lnTo>
                  <a:pt x="0" y="0"/>
                </a:lnTo>
                <a:close/>
              </a:path>
            </a:pathLst>
          </a:custGeom>
          <a:blipFill>
            <a:blip r:embed="rId2"/>
            <a:stretch>
              <a:fillRect l="-296483" t="-668958" r="-407183" b="-357814"/>
            </a:stretch>
          </a:blipFill>
        </p:spPr>
      </p:sp>
      <p:sp>
        <p:nvSpPr>
          <p:cNvPr name="Freeform 6" id="6"/>
          <p:cNvSpPr/>
          <p:nvPr/>
        </p:nvSpPr>
        <p:spPr>
          <a:xfrm flipH="false" flipV="false" rot="0">
            <a:off x="0" y="0"/>
            <a:ext cx="18247450" cy="10287000"/>
          </a:xfrm>
          <a:custGeom>
            <a:avLst/>
            <a:gdLst/>
            <a:ahLst/>
            <a:cxnLst/>
            <a:rect r="r" b="b" t="t" l="l"/>
            <a:pathLst>
              <a:path h="10287000" w="18247450">
                <a:moveTo>
                  <a:pt x="0" y="0"/>
                </a:moveTo>
                <a:lnTo>
                  <a:pt x="18247450" y="0"/>
                </a:lnTo>
                <a:lnTo>
                  <a:pt x="18247450" y="10287000"/>
                </a:lnTo>
                <a:lnTo>
                  <a:pt x="0" y="10287000"/>
                </a:lnTo>
                <a:lnTo>
                  <a:pt x="0" y="0"/>
                </a:lnTo>
                <a:close/>
              </a:path>
            </a:pathLst>
          </a:custGeom>
          <a:blipFill>
            <a:blip r:embed="rId3"/>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6746692" y="4433617"/>
            <a:ext cx="2275568" cy="790376"/>
          </a:xfrm>
          <a:custGeom>
            <a:avLst/>
            <a:gdLst/>
            <a:ahLst/>
            <a:cxnLst/>
            <a:rect r="r" b="b" t="t" l="l"/>
            <a:pathLst>
              <a:path h="790376" w="2275568">
                <a:moveTo>
                  <a:pt x="0" y="0"/>
                </a:moveTo>
                <a:lnTo>
                  <a:pt x="2275567" y="0"/>
                </a:lnTo>
                <a:lnTo>
                  <a:pt x="2275567" y="790376"/>
                </a:lnTo>
                <a:lnTo>
                  <a:pt x="0" y="790376"/>
                </a:lnTo>
                <a:lnTo>
                  <a:pt x="0" y="0"/>
                </a:lnTo>
                <a:close/>
              </a:path>
            </a:pathLst>
          </a:custGeom>
          <a:blipFill>
            <a:blip r:embed="rId2"/>
            <a:stretch>
              <a:fillRect l="-289786" t="-541668" r="-413880" b="-659864"/>
            </a:stretch>
          </a:blipFill>
        </p:spPr>
      </p:sp>
      <p:sp>
        <p:nvSpPr>
          <p:cNvPr name="Freeform 4" id="4"/>
          <p:cNvSpPr/>
          <p:nvPr/>
        </p:nvSpPr>
        <p:spPr>
          <a:xfrm flipH="false" flipV="false" rot="0">
            <a:off x="6746692" y="5366868"/>
            <a:ext cx="2275568" cy="912961"/>
          </a:xfrm>
          <a:custGeom>
            <a:avLst/>
            <a:gdLst/>
            <a:ahLst/>
            <a:cxnLst/>
            <a:rect r="r" b="b" t="t" l="l"/>
            <a:pathLst>
              <a:path h="912961" w="2275568">
                <a:moveTo>
                  <a:pt x="0" y="0"/>
                </a:moveTo>
                <a:lnTo>
                  <a:pt x="2275567" y="0"/>
                </a:lnTo>
                <a:lnTo>
                  <a:pt x="2275567" y="912961"/>
                </a:lnTo>
                <a:lnTo>
                  <a:pt x="0" y="912961"/>
                </a:lnTo>
                <a:lnTo>
                  <a:pt x="0" y="0"/>
                </a:lnTo>
                <a:close/>
              </a:path>
            </a:pathLst>
          </a:custGeom>
          <a:blipFill>
            <a:blip r:embed="rId2"/>
            <a:stretch>
              <a:fillRect l="-296483" t="-564503" r="-407183" b="-462270"/>
            </a:stretch>
          </a:blipFill>
        </p:spPr>
      </p:sp>
      <p:sp>
        <p:nvSpPr>
          <p:cNvPr name="Freeform 5" id="5"/>
          <p:cNvSpPr/>
          <p:nvPr/>
        </p:nvSpPr>
        <p:spPr>
          <a:xfrm flipH="false" flipV="false" rot="0">
            <a:off x="6746692" y="6421860"/>
            <a:ext cx="2275568" cy="912961"/>
          </a:xfrm>
          <a:custGeom>
            <a:avLst/>
            <a:gdLst/>
            <a:ahLst/>
            <a:cxnLst/>
            <a:rect r="r" b="b" t="t" l="l"/>
            <a:pathLst>
              <a:path h="912961" w="2275568">
                <a:moveTo>
                  <a:pt x="0" y="0"/>
                </a:moveTo>
                <a:lnTo>
                  <a:pt x="2275567" y="0"/>
                </a:lnTo>
                <a:lnTo>
                  <a:pt x="2275567" y="912960"/>
                </a:lnTo>
                <a:lnTo>
                  <a:pt x="0" y="912960"/>
                </a:lnTo>
                <a:lnTo>
                  <a:pt x="0" y="0"/>
                </a:lnTo>
                <a:close/>
              </a:path>
            </a:pathLst>
          </a:custGeom>
          <a:blipFill>
            <a:blip r:embed="rId2"/>
            <a:stretch>
              <a:fillRect l="-296483" t="-668958" r="-407183" b="-357814"/>
            </a:stretch>
          </a:blipFill>
        </p:spPr>
      </p:sp>
      <p:sp>
        <p:nvSpPr>
          <p:cNvPr name="Freeform 6" id="6"/>
          <p:cNvSpPr/>
          <p:nvPr/>
        </p:nvSpPr>
        <p:spPr>
          <a:xfrm flipH="false" flipV="false" rot="0">
            <a:off x="-41177" y="0"/>
            <a:ext cx="18126872" cy="10287000"/>
          </a:xfrm>
          <a:custGeom>
            <a:avLst/>
            <a:gdLst/>
            <a:ahLst/>
            <a:cxnLst/>
            <a:rect r="r" b="b" t="t" l="l"/>
            <a:pathLst>
              <a:path h="10287000" w="18126872">
                <a:moveTo>
                  <a:pt x="0" y="0"/>
                </a:moveTo>
                <a:lnTo>
                  <a:pt x="18126872" y="0"/>
                </a:lnTo>
                <a:lnTo>
                  <a:pt x="18126872" y="10287000"/>
                </a:lnTo>
                <a:lnTo>
                  <a:pt x="0" y="10287000"/>
                </a:lnTo>
                <a:lnTo>
                  <a:pt x="0" y="0"/>
                </a:lnTo>
                <a:close/>
              </a:path>
            </a:pathLst>
          </a:custGeom>
          <a:blipFill>
            <a:blip r:embed="rId3"/>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648465" y="563561"/>
            <a:ext cx="5001673" cy="854077"/>
          </a:xfrm>
          <a:prstGeom prst="rect">
            <a:avLst/>
          </a:prstGeom>
        </p:spPr>
        <p:txBody>
          <a:bodyPr anchor="t" rtlCol="false" tIns="0" lIns="0" bIns="0" rIns="0">
            <a:spAutoFit/>
          </a:bodyPr>
          <a:lstStyle/>
          <a:p>
            <a:pPr algn="ctr">
              <a:lnSpc>
                <a:spcPts val="6999"/>
              </a:lnSpc>
              <a:spcBef>
                <a:spcPct val="0"/>
              </a:spcBef>
            </a:pPr>
            <a:r>
              <a:rPr lang="en-US" b="true" sz="4999">
                <a:solidFill>
                  <a:srgbClr val="000000"/>
                </a:solidFill>
                <a:latin typeface="Canva Sans Bold"/>
                <a:ea typeface="Canva Sans Bold"/>
                <a:cs typeface="Canva Sans Bold"/>
                <a:sym typeface="Canva Sans Bold"/>
              </a:rPr>
              <a:t>Business Model </a:t>
            </a:r>
          </a:p>
        </p:txBody>
      </p:sp>
      <p:sp>
        <p:nvSpPr>
          <p:cNvPr name="TextBox 4" id="4"/>
          <p:cNvSpPr txBox="true"/>
          <p:nvPr/>
        </p:nvSpPr>
        <p:spPr>
          <a:xfrm rot="0">
            <a:off x="1549486" y="2767754"/>
            <a:ext cx="8201303" cy="854077"/>
          </a:xfrm>
          <a:prstGeom prst="rect">
            <a:avLst/>
          </a:prstGeom>
        </p:spPr>
        <p:txBody>
          <a:bodyPr anchor="t" rtlCol="false" tIns="0" lIns="0" bIns="0" rIns="0">
            <a:spAutoFit/>
          </a:bodyPr>
          <a:lstStyle/>
          <a:p>
            <a:pPr algn="ctr">
              <a:lnSpc>
                <a:spcPts val="6999"/>
              </a:lnSpc>
              <a:spcBef>
                <a:spcPct val="0"/>
              </a:spcBef>
            </a:pPr>
            <a:r>
              <a:rPr lang="en-US" b="true" sz="4999">
                <a:solidFill>
                  <a:srgbClr val="000000"/>
                </a:solidFill>
                <a:latin typeface="Canva Sans Bold"/>
                <a:ea typeface="Canva Sans Bold"/>
                <a:cs typeface="Canva Sans Bold"/>
                <a:sym typeface="Canva Sans Bold"/>
              </a:rPr>
              <a:t>USP (Unique Selling Point)</a:t>
            </a:r>
          </a:p>
        </p:txBody>
      </p:sp>
      <p:sp>
        <p:nvSpPr>
          <p:cNvPr name="TextBox 5" id="5"/>
          <p:cNvSpPr txBox="true"/>
          <p:nvPr/>
        </p:nvSpPr>
        <p:spPr>
          <a:xfrm rot="0">
            <a:off x="2208169" y="4102949"/>
            <a:ext cx="11343533" cy="4105911"/>
          </a:xfrm>
          <a:prstGeom prst="rect">
            <a:avLst/>
          </a:prstGeom>
        </p:spPr>
        <p:txBody>
          <a:bodyPr anchor="t" rtlCol="false" tIns="0" lIns="0" bIns="0" rIns="0">
            <a:spAutoFit/>
          </a:bodyPr>
          <a:lstStyle/>
          <a:p>
            <a:pPr algn="l" marL="561336" indent="-280668" lvl="1">
              <a:lnSpc>
                <a:spcPts val="3639"/>
              </a:lnSpc>
              <a:buFont typeface="Arial"/>
              <a:buChar char="•"/>
            </a:pPr>
            <a:r>
              <a:rPr lang="en-US" sz="2599">
                <a:solidFill>
                  <a:srgbClr val="000000"/>
                </a:solidFill>
                <a:latin typeface="Canva Sans"/>
                <a:ea typeface="Canva Sans"/>
                <a:cs typeface="Canva Sans"/>
                <a:sym typeface="Canva Sans"/>
              </a:rPr>
              <a:t>Automatic document extraction and smart error prevention</a:t>
            </a:r>
          </a:p>
          <a:p>
            <a:pPr algn="l" marL="561336" indent="-280668" lvl="1">
              <a:lnSpc>
                <a:spcPts val="3639"/>
              </a:lnSpc>
              <a:buFont typeface="Arial"/>
              <a:buChar char="•"/>
            </a:pPr>
            <a:r>
              <a:rPr lang="en-US" sz="2599">
                <a:solidFill>
                  <a:srgbClr val="000000"/>
                </a:solidFill>
                <a:latin typeface="Canva Sans"/>
                <a:ea typeface="Canva Sans"/>
                <a:cs typeface="Canva Sans"/>
                <a:sym typeface="Canva Sans"/>
              </a:rPr>
              <a:t>Reusable verified profile enables faster future submissions.</a:t>
            </a:r>
          </a:p>
          <a:p>
            <a:pPr algn="l" marL="561336" indent="-280668" lvl="1">
              <a:lnSpc>
                <a:spcPts val="3639"/>
              </a:lnSpc>
              <a:buFont typeface="Arial"/>
              <a:buChar char="•"/>
            </a:pPr>
            <a:r>
              <a:rPr lang="en-US" sz="2599">
                <a:solidFill>
                  <a:srgbClr val="000000"/>
                </a:solidFill>
                <a:latin typeface="Canva Sans"/>
                <a:ea typeface="Canva Sans"/>
                <a:cs typeface="Canva Sans"/>
                <a:sym typeface="Canva Sans"/>
              </a:rPr>
              <a:t>Reduce user time and cost for applications.</a:t>
            </a:r>
          </a:p>
          <a:p>
            <a:pPr algn="l" marL="561336" indent="-280668" lvl="1">
              <a:lnSpc>
                <a:spcPts val="3639"/>
              </a:lnSpc>
              <a:buFont typeface="Arial"/>
              <a:buChar char="•"/>
            </a:pPr>
            <a:r>
              <a:rPr lang="en-US" sz="2599">
                <a:solidFill>
                  <a:srgbClr val="000000"/>
                </a:solidFill>
                <a:latin typeface="Canva Sans"/>
                <a:ea typeface="Canva Sans"/>
                <a:cs typeface="Canva Sans"/>
                <a:sym typeface="Canva Sans"/>
              </a:rPr>
              <a:t>Voice-first Marathi support for low-literacy users.</a:t>
            </a:r>
          </a:p>
          <a:p>
            <a:pPr algn="l" marL="561336" indent="-280668" lvl="1">
              <a:lnSpc>
                <a:spcPts val="3639"/>
              </a:lnSpc>
              <a:buFont typeface="Arial"/>
              <a:buChar char="•"/>
            </a:pPr>
            <a:r>
              <a:rPr lang="en-US" sz="2599">
                <a:solidFill>
                  <a:srgbClr val="000000"/>
                </a:solidFill>
                <a:latin typeface="Canva Sans"/>
                <a:ea typeface="Canva Sans"/>
                <a:cs typeface="Canva Sans"/>
                <a:sym typeface="Canva Sans"/>
              </a:rPr>
              <a:t>Rejection predictor gives success score before submission.</a:t>
            </a:r>
          </a:p>
          <a:p>
            <a:pPr algn="l" marL="561336" indent="-280668" lvl="1">
              <a:lnSpc>
                <a:spcPts val="3639"/>
              </a:lnSpc>
              <a:buFont typeface="Arial"/>
              <a:buChar char="•"/>
            </a:pPr>
            <a:r>
              <a:rPr lang="en-US" sz="2599">
                <a:solidFill>
                  <a:srgbClr val="000000"/>
                </a:solidFill>
                <a:latin typeface="Canva Sans"/>
                <a:ea typeface="Canva Sans"/>
                <a:cs typeface="Canva Sans"/>
                <a:sym typeface="Canva Sans"/>
              </a:rPr>
              <a:t>Decrease rejection rate, improve success rate.</a:t>
            </a:r>
          </a:p>
          <a:p>
            <a:pPr algn="l" marL="561336" indent="-280668" lvl="1">
              <a:lnSpc>
                <a:spcPts val="3639"/>
              </a:lnSpc>
              <a:buFont typeface="Arial"/>
              <a:buChar char="•"/>
            </a:pPr>
            <a:r>
              <a:rPr lang="en-US" sz="2599">
                <a:solidFill>
                  <a:srgbClr val="000000"/>
                </a:solidFill>
                <a:latin typeface="Canva Sans"/>
                <a:ea typeface="Canva Sans"/>
                <a:cs typeface="Canva Sans"/>
                <a:sym typeface="Canva Sans"/>
              </a:rPr>
              <a:t>One-click autofill using verified digital IDs securely.</a:t>
            </a:r>
          </a:p>
          <a:p>
            <a:pPr algn="l" marL="561336" indent="-280668" lvl="1">
              <a:lnSpc>
                <a:spcPts val="3639"/>
              </a:lnSpc>
              <a:buFont typeface="Arial"/>
              <a:buChar char="•"/>
            </a:pPr>
            <a:r>
              <a:rPr lang="en-US" sz="2599">
                <a:solidFill>
                  <a:srgbClr val="000000"/>
                </a:solidFill>
                <a:latin typeface="Canva Sans"/>
                <a:ea typeface="Canva Sans"/>
                <a:cs typeface="Canva Sans"/>
                <a:sym typeface="Canva Sans"/>
              </a:rPr>
              <a:t>Increase adoption of government digital services.</a:t>
            </a:r>
          </a:p>
          <a:p>
            <a:pPr algn="l" marL="561336" indent="-280668" lvl="1">
              <a:lnSpc>
                <a:spcPts val="3639"/>
              </a:lnSpc>
              <a:buFont typeface="Arial"/>
              <a:buChar char="•"/>
            </a:pPr>
            <a:r>
              <a:rPr lang="en-US" sz="2599">
                <a:solidFill>
                  <a:srgbClr val="000000"/>
                </a:solidFill>
                <a:latin typeface="Canva Sans"/>
                <a:ea typeface="Canva Sans"/>
                <a:cs typeface="Canva Sans"/>
                <a:sym typeface="Canva Sans"/>
              </a:rPr>
              <a:t>Create scalable solution usable across all portals.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239020" y="2342932"/>
            <a:ext cx="4356237" cy="3306346"/>
          </a:xfrm>
          <a:custGeom>
            <a:avLst/>
            <a:gdLst/>
            <a:ahLst/>
            <a:cxnLst/>
            <a:rect r="r" b="b" t="t" l="l"/>
            <a:pathLst>
              <a:path h="3306346" w="4356237">
                <a:moveTo>
                  <a:pt x="0" y="0"/>
                </a:moveTo>
                <a:lnTo>
                  <a:pt x="4356237" y="0"/>
                </a:lnTo>
                <a:lnTo>
                  <a:pt x="4356237" y="3306346"/>
                </a:lnTo>
                <a:lnTo>
                  <a:pt x="0" y="3306346"/>
                </a:lnTo>
                <a:lnTo>
                  <a:pt x="0" y="0"/>
                </a:lnTo>
                <a:close/>
              </a:path>
            </a:pathLst>
          </a:custGeom>
          <a:blipFill>
            <a:blip r:embed="rId3"/>
            <a:stretch>
              <a:fillRect l="-20243" t="0" r="-18702" b="0"/>
            </a:stretch>
          </a:blipFill>
          <a:ln w="28575" cap="rnd">
            <a:solidFill>
              <a:srgbClr val="000000"/>
            </a:solidFill>
            <a:prstDash val="solid"/>
            <a:round/>
          </a:ln>
        </p:spPr>
      </p:sp>
      <p:sp>
        <p:nvSpPr>
          <p:cNvPr name="Freeform 4" id="4"/>
          <p:cNvSpPr/>
          <p:nvPr/>
        </p:nvSpPr>
        <p:spPr>
          <a:xfrm flipH="false" flipV="false" rot="0">
            <a:off x="9216601" y="7373902"/>
            <a:ext cx="3951422" cy="2704426"/>
          </a:xfrm>
          <a:custGeom>
            <a:avLst/>
            <a:gdLst/>
            <a:ahLst/>
            <a:cxnLst/>
            <a:rect r="r" b="b" t="t" l="l"/>
            <a:pathLst>
              <a:path h="2704426" w="3951422">
                <a:moveTo>
                  <a:pt x="0" y="0"/>
                </a:moveTo>
                <a:lnTo>
                  <a:pt x="3951421" y="0"/>
                </a:lnTo>
                <a:lnTo>
                  <a:pt x="3951421" y="2704426"/>
                </a:lnTo>
                <a:lnTo>
                  <a:pt x="0" y="2704426"/>
                </a:lnTo>
                <a:lnTo>
                  <a:pt x="0" y="0"/>
                </a:lnTo>
                <a:close/>
              </a:path>
            </a:pathLst>
          </a:custGeom>
          <a:blipFill>
            <a:blip r:embed="rId4"/>
            <a:stretch>
              <a:fillRect l="-16867" t="0" r="-8713" b="0"/>
            </a:stretch>
          </a:blipFill>
          <a:ln w="28575" cap="rnd">
            <a:solidFill>
              <a:srgbClr val="000000"/>
            </a:solidFill>
            <a:prstDash val="solid"/>
            <a:round/>
          </a:ln>
        </p:spPr>
      </p:sp>
      <p:sp>
        <p:nvSpPr>
          <p:cNvPr name="Freeform 5" id="5"/>
          <p:cNvSpPr/>
          <p:nvPr/>
        </p:nvSpPr>
        <p:spPr>
          <a:xfrm flipH="false" flipV="false" rot="0">
            <a:off x="9282573" y="1200483"/>
            <a:ext cx="3885449" cy="2795622"/>
          </a:xfrm>
          <a:custGeom>
            <a:avLst/>
            <a:gdLst/>
            <a:ahLst/>
            <a:cxnLst/>
            <a:rect r="r" b="b" t="t" l="l"/>
            <a:pathLst>
              <a:path h="2795622" w="3885449">
                <a:moveTo>
                  <a:pt x="0" y="0"/>
                </a:moveTo>
                <a:lnTo>
                  <a:pt x="3885449" y="0"/>
                </a:lnTo>
                <a:lnTo>
                  <a:pt x="3885449" y="2795622"/>
                </a:lnTo>
                <a:lnTo>
                  <a:pt x="0" y="2795622"/>
                </a:lnTo>
                <a:lnTo>
                  <a:pt x="0" y="0"/>
                </a:lnTo>
                <a:close/>
              </a:path>
            </a:pathLst>
          </a:custGeom>
          <a:blipFill>
            <a:blip r:embed="rId5"/>
            <a:stretch>
              <a:fillRect l="-16742" t="-1345" r="-16748" b="0"/>
            </a:stretch>
          </a:blipFill>
          <a:ln w="28575" cap="rnd">
            <a:solidFill>
              <a:srgbClr val="000000"/>
            </a:solidFill>
            <a:prstDash val="solid"/>
            <a:round/>
          </a:ln>
        </p:spPr>
      </p:sp>
      <p:sp>
        <p:nvSpPr>
          <p:cNvPr name="Freeform 6" id="6"/>
          <p:cNvSpPr/>
          <p:nvPr/>
        </p:nvSpPr>
        <p:spPr>
          <a:xfrm flipH="false" flipV="false" rot="0">
            <a:off x="229348" y="5951954"/>
            <a:ext cx="4365908" cy="3306346"/>
          </a:xfrm>
          <a:custGeom>
            <a:avLst/>
            <a:gdLst/>
            <a:ahLst/>
            <a:cxnLst/>
            <a:rect r="r" b="b" t="t" l="l"/>
            <a:pathLst>
              <a:path h="3306346" w="4365908">
                <a:moveTo>
                  <a:pt x="0" y="0"/>
                </a:moveTo>
                <a:lnTo>
                  <a:pt x="4365909" y="0"/>
                </a:lnTo>
                <a:lnTo>
                  <a:pt x="4365909" y="3306346"/>
                </a:lnTo>
                <a:lnTo>
                  <a:pt x="0" y="3306346"/>
                </a:lnTo>
                <a:lnTo>
                  <a:pt x="0" y="0"/>
                </a:lnTo>
                <a:close/>
              </a:path>
            </a:pathLst>
          </a:custGeom>
          <a:blipFill>
            <a:blip r:embed="rId6"/>
            <a:stretch>
              <a:fillRect l="-29002" t="-757" r="-15652" b="-3582"/>
            </a:stretch>
          </a:blipFill>
          <a:ln w="28575" cap="rnd">
            <a:solidFill>
              <a:srgbClr val="000000"/>
            </a:solidFill>
            <a:prstDash val="solid"/>
            <a:round/>
          </a:ln>
        </p:spPr>
      </p:sp>
      <p:sp>
        <p:nvSpPr>
          <p:cNvPr name="Freeform 7" id="7"/>
          <p:cNvSpPr/>
          <p:nvPr/>
        </p:nvSpPr>
        <p:spPr>
          <a:xfrm flipH="false" flipV="false" rot="0">
            <a:off x="13539357" y="5951954"/>
            <a:ext cx="4365908" cy="3306346"/>
          </a:xfrm>
          <a:custGeom>
            <a:avLst/>
            <a:gdLst/>
            <a:ahLst/>
            <a:cxnLst/>
            <a:rect r="r" b="b" t="t" l="l"/>
            <a:pathLst>
              <a:path h="3306346" w="4365908">
                <a:moveTo>
                  <a:pt x="0" y="0"/>
                </a:moveTo>
                <a:lnTo>
                  <a:pt x="4365908" y="0"/>
                </a:lnTo>
                <a:lnTo>
                  <a:pt x="4365908" y="3306346"/>
                </a:lnTo>
                <a:lnTo>
                  <a:pt x="0" y="3306346"/>
                </a:lnTo>
                <a:lnTo>
                  <a:pt x="0" y="0"/>
                </a:lnTo>
                <a:close/>
              </a:path>
            </a:pathLst>
          </a:custGeom>
          <a:blipFill>
            <a:blip r:embed="rId7"/>
            <a:stretch>
              <a:fillRect l="-19783" t="0" r="-24879" b="-4346"/>
            </a:stretch>
          </a:blipFill>
          <a:ln w="28575" cap="rnd">
            <a:solidFill>
              <a:srgbClr val="000000"/>
            </a:solidFill>
            <a:prstDash val="solid"/>
            <a:round/>
          </a:ln>
        </p:spPr>
      </p:sp>
      <p:sp>
        <p:nvSpPr>
          <p:cNvPr name="Freeform 8" id="8"/>
          <p:cNvSpPr/>
          <p:nvPr/>
        </p:nvSpPr>
        <p:spPr>
          <a:xfrm flipH="false" flipV="false" rot="0">
            <a:off x="4958298" y="7373902"/>
            <a:ext cx="3886828" cy="2704426"/>
          </a:xfrm>
          <a:custGeom>
            <a:avLst/>
            <a:gdLst/>
            <a:ahLst/>
            <a:cxnLst/>
            <a:rect r="r" b="b" t="t" l="l"/>
            <a:pathLst>
              <a:path h="2704426" w="3886828">
                <a:moveTo>
                  <a:pt x="0" y="0"/>
                </a:moveTo>
                <a:lnTo>
                  <a:pt x="3886828" y="0"/>
                </a:lnTo>
                <a:lnTo>
                  <a:pt x="3886828" y="2704426"/>
                </a:lnTo>
                <a:lnTo>
                  <a:pt x="0" y="2704426"/>
                </a:lnTo>
                <a:lnTo>
                  <a:pt x="0" y="0"/>
                </a:lnTo>
                <a:close/>
              </a:path>
            </a:pathLst>
          </a:custGeom>
          <a:blipFill>
            <a:blip r:embed="rId8"/>
            <a:stretch>
              <a:fillRect l="-15474" t="-873" r="-17960" b="-3882"/>
            </a:stretch>
          </a:blipFill>
          <a:ln w="28575" cap="rnd">
            <a:solidFill>
              <a:srgbClr val="000000"/>
            </a:solidFill>
            <a:prstDash val="solid"/>
            <a:round/>
          </a:ln>
        </p:spPr>
      </p:sp>
      <p:sp>
        <p:nvSpPr>
          <p:cNvPr name="Freeform 9" id="9"/>
          <p:cNvSpPr/>
          <p:nvPr/>
        </p:nvSpPr>
        <p:spPr>
          <a:xfrm flipH="false" flipV="false" rot="0">
            <a:off x="13539357" y="2342932"/>
            <a:ext cx="4356237" cy="3306346"/>
          </a:xfrm>
          <a:custGeom>
            <a:avLst/>
            <a:gdLst/>
            <a:ahLst/>
            <a:cxnLst/>
            <a:rect r="r" b="b" t="t" l="l"/>
            <a:pathLst>
              <a:path h="3306346" w="4356237">
                <a:moveTo>
                  <a:pt x="0" y="0"/>
                </a:moveTo>
                <a:lnTo>
                  <a:pt x="4356237" y="0"/>
                </a:lnTo>
                <a:lnTo>
                  <a:pt x="4356237" y="3306346"/>
                </a:lnTo>
                <a:lnTo>
                  <a:pt x="0" y="3306346"/>
                </a:lnTo>
                <a:lnTo>
                  <a:pt x="0" y="0"/>
                </a:lnTo>
                <a:close/>
              </a:path>
            </a:pathLst>
          </a:custGeom>
          <a:blipFill>
            <a:blip r:embed="rId9"/>
            <a:stretch>
              <a:fillRect l="-23880" t="0" r="-36695" b="-15302"/>
            </a:stretch>
          </a:blipFill>
          <a:ln w="28575" cap="rnd">
            <a:solidFill>
              <a:srgbClr val="000000"/>
            </a:solidFill>
            <a:prstDash val="solid"/>
            <a:round/>
          </a:ln>
        </p:spPr>
      </p:sp>
      <p:sp>
        <p:nvSpPr>
          <p:cNvPr name="TextBox 10" id="10"/>
          <p:cNvSpPr txBox="true"/>
          <p:nvPr/>
        </p:nvSpPr>
        <p:spPr>
          <a:xfrm rot="0">
            <a:off x="362845" y="394921"/>
            <a:ext cx="6339984" cy="857982"/>
          </a:xfrm>
          <a:prstGeom prst="rect">
            <a:avLst/>
          </a:prstGeom>
        </p:spPr>
        <p:txBody>
          <a:bodyPr anchor="t" rtlCol="false" tIns="0" lIns="0" bIns="0" rIns="0">
            <a:spAutoFit/>
          </a:bodyPr>
          <a:lstStyle/>
          <a:p>
            <a:pPr algn="ctr">
              <a:lnSpc>
                <a:spcPts val="7009"/>
              </a:lnSpc>
              <a:spcBef>
                <a:spcPct val="0"/>
              </a:spcBef>
            </a:pPr>
            <a:r>
              <a:rPr lang="en-US" b="true" sz="5006">
                <a:solidFill>
                  <a:srgbClr val="000000"/>
                </a:solidFill>
                <a:latin typeface="Canva Sans Bold"/>
                <a:ea typeface="Canva Sans Bold"/>
                <a:cs typeface="Canva Sans Bold"/>
                <a:sym typeface="Canva Sans Bold"/>
              </a:rPr>
              <a:t>Exp</a:t>
            </a:r>
            <a:r>
              <a:rPr lang="en-US" b="true" sz="5006">
                <a:solidFill>
                  <a:srgbClr val="000000"/>
                </a:solidFill>
                <a:latin typeface="Canva Sans Bold"/>
                <a:ea typeface="Canva Sans Bold"/>
                <a:cs typeface="Canva Sans Bold"/>
                <a:sym typeface="Canva Sans Bold"/>
              </a:rPr>
              <a:t>ected outcome</a:t>
            </a:r>
          </a:p>
        </p:txBody>
      </p:sp>
      <p:sp>
        <p:nvSpPr>
          <p:cNvPr name="Freeform 11" id="11"/>
          <p:cNvSpPr/>
          <p:nvPr/>
        </p:nvSpPr>
        <p:spPr>
          <a:xfrm flipH="false" flipV="false" rot="0">
            <a:off x="5751062" y="4267007"/>
            <a:ext cx="6632489" cy="2835993"/>
          </a:xfrm>
          <a:custGeom>
            <a:avLst/>
            <a:gdLst/>
            <a:ahLst/>
            <a:cxnLst/>
            <a:rect r="r" b="b" t="t" l="l"/>
            <a:pathLst>
              <a:path h="2835993" w="6632489">
                <a:moveTo>
                  <a:pt x="0" y="0"/>
                </a:moveTo>
                <a:lnTo>
                  <a:pt x="6632489" y="0"/>
                </a:lnTo>
                <a:lnTo>
                  <a:pt x="6632489" y="2835992"/>
                </a:lnTo>
                <a:lnTo>
                  <a:pt x="0" y="2835992"/>
                </a:lnTo>
                <a:lnTo>
                  <a:pt x="0" y="0"/>
                </a:lnTo>
                <a:close/>
              </a:path>
            </a:pathLst>
          </a:custGeom>
          <a:blipFill>
            <a:blip r:embed="rId10"/>
            <a:stretch>
              <a:fillRect l="-3056" t="-12854" r="-2397" b="-21556"/>
            </a:stretch>
          </a:blipFill>
          <a:ln w="28575" cap="rnd">
            <a:solidFill>
              <a:srgbClr val="000000"/>
            </a:solidFill>
            <a:prstDash val="solid"/>
            <a:round/>
          </a:ln>
        </p:spPr>
      </p:sp>
      <p:sp>
        <p:nvSpPr>
          <p:cNvPr name="Freeform 12" id="12"/>
          <p:cNvSpPr/>
          <p:nvPr/>
        </p:nvSpPr>
        <p:spPr>
          <a:xfrm flipH="false" flipV="false" rot="0">
            <a:off x="4958298" y="1210285"/>
            <a:ext cx="3951422" cy="2785819"/>
          </a:xfrm>
          <a:custGeom>
            <a:avLst/>
            <a:gdLst/>
            <a:ahLst/>
            <a:cxnLst/>
            <a:rect r="r" b="b" t="t" l="l"/>
            <a:pathLst>
              <a:path h="2785819" w="3951422">
                <a:moveTo>
                  <a:pt x="0" y="0"/>
                </a:moveTo>
                <a:lnTo>
                  <a:pt x="3951422" y="0"/>
                </a:lnTo>
                <a:lnTo>
                  <a:pt x="3951422" y="2785820"/>
                </a:lnTo>
                <a:lnTo>
                  <a:pt x="0" y="2785820"/>
                </a:lnTo>
                <a:lnTo>
                  <a:pt x="0" y="0"/>
                </a:lnTo>
                <a:close/>
              </a:path>
            </a:pathLst>
          </a:custGeom>
          <a:blipFill>
            <a:blip r:embed="rId11"/>
            <a:stretch>
              <a:fillRect l="-13319" t="0" r="-12857" b="0"/>
            </a:stretch>
          </a:blipFill>
          <a:ln w="28575" cap="rnd">
            <a:solidFill>
              <a:srgbClr val="000000"/>
            </a:solidFill>
            <a:prstDash val="solid"/>
            <a:round/>
          </a:ln>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0" y="2682838"/>
            <a:ext cx="18288000" cy="6079563"/>
          </a:xfrm>
          <a:custGeom>
            <a:avLst/>
            <a:gdLst/>
            <a:ahLst/>
            <a:cxnLst/>
            <a:rect r="r" b="b" t="t" l="l"/>
            <a:pathLst>
              <a:path h="6079563" w="18288000">
                <a:moveTo>
                  <a:pt x="0" y="0"/>
                </a:moveTo>
                <a:lnTo>
                  <a:pt x="18288000" y="0"/>
                </a:lnTo>
                <a:lnTo>
                  <a:pt x="18288000" y="6079564"/>
                </a:lnTo>
                <a:lnTo>
                  <a:pt x="0" y="6079564"/>
                </a:lnTo>
                <a:lnTo>
                  <a:pt x="0" y="0"/>
                </a:lnTo>
                <a:close/>
              </a:path>
            </a:pathLst>
          </a:custGeom>
          <a:blipFill>
            <a:blip r:embed="rId3"/>
            <a:stretch>
              <a:fillRect l="0" t="-62437" r="0" b="0"/>
            </a:stretch>
          </a:blipFill>
        </p:spPr>
      </p:sp>
      <p:sp>
        <p:nvSpPr>
          <p:cNvPr name="TextBox 4" id="4"/>
          <p:cNvSpPr txBox="true"/>
          <p:nvPr/>
        </p:nvSpPr>
        <p:spPr>
          <a:xfrm rot="0">
            <a:off x="-152400" y="573153"/>
            <a:ext cx="7219470" cy="863468"/>
          </a:xfrm>
          <a:prstGeom prst="rect">
            <a:avLst/>
          </a:prstGeom>
        </p:spPr>
        <p:txBody>
          <a:bodyPr anchor="t" rtlCol="false" tIns="0" lIns="0" bIns="0" rIns="0">
            <a:spAutoFit/>
          </a:bodyPr>
          <a:lstStyle/>
          <a:p>
            <a:pPr algn="ctr">
              <a:lnSpc>
                <a:spcPts val="7007"/>
              </a:lnSpc>
              <a:spcBef>
                <a:spcPct val="0"/>
              </a:spcBef>
            </a:pPr>
            <a:r>
              <a:rPr lang="en-US" b="true" sz="5005">
                <a:solidFill>
                  <a:srgbClr val="000000"/>
                </a:solidFill>
                <a:latin typeface="Canva Sans Bold"/>
                <a:ea typeface="Canva Sans Bold"/>
                <a:cs typeface="Canva Sans Bold"/>
                <a:sym typeface="Canva Sans Bold"/>
              </a:rPr>
              <a:t>Team Description:</a:t>
            </a:r>
          </a:p>
        </p:txBody>
      </p:sp>
      <p:sp>
        <p:nvSpPr>
          <p:cNvPr name="Freeform 5" id="5"/>
          <p:cNvSpPr/>
          <p:nvPr/>
        </p:nvSpPr>
        <p:spPr>
          <a:xfrm flipH="false" flipV="false" rot="0">
            <a:off x="6746692" y="4433617"/>
            <a:ext cx="2275568" cy="790376"/>
          </a:xfrm>
          <a:custGeom>
            <a:avLst/>
            <a:gdLst/>
            <a:ahLst/>
            <a:cxnLst/>
            <a:rect r="r" b="b" t="t" l="l"/>
            <a:pathLst>
              <a:path h="790376" w="2275568">
                <a:moveTo>
                  <a:pt x="0" y="0"/>
                </a:moveTo>
                <a:lnTo>
                  <a:pt x="2275567" y="0"/>
                </a:lnTo>
                <a:lnTo>
                  <a:pt x="2275567" y="790376"/>
                </a:lnTo>
                <a:lnTo>
                  <a:pt x="0" y="790376"/>
                </a:lnTo>
                <a:lnTo>
                  <a:pt x="0" y="0"/>
                </a:lnTo>
                <a:close/>
              </a:path>
            </a:pathLst>
          </a:custGeom>
          <a:blipFill>
            <a:blip r:embed="rId2"/>
            <a:stretch>
              <a:fillRect l="-289786" t="-541668" r="-413880" b="-659864"/>
            </a:stretch>
          </a:blipFill>
        </p:spPr>
      </p:sp>
      <p:sp>
        <p:nvSpPr>
          <p:cNvPr name="Freeform 6" id="6"/>
          <p:cNvSpPr/>
          <p:nvPr/>
        </p:nvSpPr>
        <p:spPr>
          <a:xfrm flipH="false" flipV="false" rot="0">
            <a:off x="6746692" y="5366868"/>
            <a:ext cx="2275568" cy="912961"/>
          </a:xfrm>
          <a:custGeom>
            <a:avLst/>
            <a:gdLst/>
            <a:ahLst/>
            <a:cxnLst/>
            <a:rect r="r" b="b" t="t" l="l"/>
            <a:pathLst>
              <a:path h="912961" w="2275568">
                <a:moveTo>
                  <a:pt x="0" y="0"/>
                </a:moveTo>
                <a:lnTo>
                  <a:pt x="2275567" y="0"/>
                </a:lnTo>
                <a:lnTo>
                  <a:pt x="2275567" y="912961"/>
                </a:lnTo>
                <a:lnTo>
                  <a:pt x="0" y="912961"/>
                </a:lnTo>
                <a:lnTo>
                  <a:pt x="0" y="0"/>
                </a:lnTo>
                <a:close/>
              </a:path>
            </a:pathLst>
          </a:custGeom>
          <a:blipFill>
            <a:blip r:embed="rId2"/>
            <a:stretch>
              <a:fillRect l="-296483" t="-564503" r="-407183" b="-462270"/>
            </a:stretch>
          </a:blipFill>
        </p:spPr>
      </p:sp>
      <p:sp>
        <p:nvSpPr>
          <p:cNvPr name="Freeform 7" id="7"/>
          <p:cNvSpPr/>
          <p:nvPr/>
        </p:nvSpPr>
        <p:spPr>
          <a:xfrm flipH="false" flipV="false" rot="0">
            <a:off x="6746692" y="6421860"/>
            <a:ext cx="2275568" cy="912961"/>
          </a:xfrm>
          <a:custGeom>
            <a:avLst/>
            <a:gdLst/>
            <a:ahLst/>
            <a:cxnLst/>
            <a:rect r="r" b="b" t="t" l="l"/>
            <a:pathLst>
              <a:path h="912961" w="2275568">
                <a:moveTo>
                  <a:pt x="0" y="0"/>
                </a:moveTo>
                <a:lnTo>
                  <a:pt x="2275567" y="0"/>
                </a:lnTo>
                <a:lnTo>
                  <a:pt x="2275567" y="912960"/>
                </a:lnTo>
                <a:lnTo>
                  <a:pt x="0" y="912960"/>
                </a:lnTo>
                <a:lnTo>
                  <a:pt x="0" y="0"/>
                </a:lnTo>
                <a:close/>
              </a:path>
            </a:pathLst>
          </a:custGeom>
          <a:blipFill>
            <a:blip r:embed="rId2"/>
            <a:stretch>
              <a:fillRect l="-296483" t="-668958" r="-407183" b="-357814"/>
            </a:stretch>
          </a:blipFill>
        </p:spPr>
      </p:sp>
      <p:sp>
        <p:nvSpPr>
          <p:cNvPr name="TextBox 8" id="8"/>
          <p:cNvSpPr txBox="true"/>
          <p:nvPr/>
        </p:nvSpPr>
        <p:spPr>
          <a:xfrm rot="0">
            <a:off x="6860898" y="4566550"/>
            <a:ext cx="2090323" cy="576950"/>
          </a:xfrm>
          <a:prstGeom prst="rect">
            <a:avLst/>
          </a:prstGeom>
        </p:spPr>
        <p:txBody>
          <a:bodyPr anchor="t" rtlCol="false" tIns="0" lIns="0" bIns="0" rIns="0">
            <a:spAutoFit/>
          </a:bodyPr>
          <a:lstStyle/>
          <a:p>
            <a:pPr algn="ctr">
              <a:lnSpc>
                <a:spcPts val="4748"/>
              </a:lnSpc>
              <a:spcBef>
                <a:spcPct val="0"/>
              </a:spcBef>
            </a:pPr>
            <a:r>
              <a:rPr lang="en-US" sz="3391">
                <a:solidFill>
                  <a:srgbClr val="000000"/>
                </a:solidFill>
                <a:latin typeface="Canva Sans"/>
                <a:ea typeface="Canva Sans"/>
                <a:cs typeface="Canva Sans"/>
                <a:sym typeface="Canva Sans"/>
              </a:rPr>
              <a:t>2029</a:t>
            </a:r>
          </a:p>
        </p:txBody>
      </p:sp>
      <p:sp>
        <p:nvSpPr>
          <p:cNvPr name="TextBox 9" id="9"/>
          <p:cNvSpPr txBox="true"/>
          <p:nvPr/>
        </p:nvSpPr>
        <p:spPr>
          <a:xfrm rot="0">
            <a:off x="6867595" y="5510894"/>
            <a:ext cx="2076930" cy="557389"/>
          </a:xfrm>
          <a:prstGeom prst="rect">
            <a:avLst/>
          </a:prstGeom>
        </p:spPr>
        <p:txBody>
          <a:bodyPr anchor="t" rtlCol="false" tIns="0" lIns="0" bIns="0" rIns="0">
            <a:spAutoFit/>
          </a:bodyPr>
          <a:lstStyle/>
          <a:p>
            <a:pPr algn="ctr">
              <a:lnSpc>
                <a:spcPts val="4566"/>
              </a:lnSpc>
              <a:spcBef>
                <a:spcPct val="0"/>
              </a:spcBef>
            </a:pPr>
            <a:r>
              <a:rPr lang="en-US" sz="3261">
                <a:solidFill>
                  <a:srgbClr val="000000"/>
                </a:solidFill>
                <a:latin typeface="Canva Sans"/>
                <a:ea typeface="Canva Sans"/>
                <a:cs typeface="Canva Sans"/>
                <a:sym typeface="Canva Sans"/>
              </a:rPr>
              <a:t>2029</a:t>
            </a:r>
          </a:p>
        </p:txBody>
      </p:sp>
      <p:sp>
        <p:nvSpPr>
          <p:cNvPr name="TextBox 10" id="10"/>
          <p:cNvSpPr txBox="true"/>
          <p:nvPr/>
        </p:nvSpPr>
        <p:spPr>
          <a:xfrm rot="0">
            <a:off x="6758751" y="6454160"/>
            <a:ext cx="2251449" cy="581661"/>
          </a:xfrm>
          <a:prstGeom prst="rect">
            <a:avLst/>
          </a:prstGeom>
        </p:spPr>
        <p:txBody>
          <a:bodyPr anchor="t" rtlCol="false" tIns="0" lIns="0" bIns="0" rIns="0">
            <a:spAutoFit/>
          </a:bodyPr>
          <a:lstStyle/>
          <a:p>
            <a:pPr algn="ctr">
              <a:lnSpc>
                <a:spcPts val="4703"/>
              </a:lnSpc>
              <a:spcBef>
                <a:spcPct val="0"/>
              </a:spcBef>
            </a:pPr>
            <a:r>
              <a:rPr lang="en-US" sz="3359">
                <a:solidFill>
                  <a:srgbClr val="000000"/>
                </a:solidFill>
                <a:latin typeface="Canva Sans"/>
                <a:ea typeface="Canva Sans"/>
                <a:cs typeface="Canva Sans"/>
                <a:sym typeface="Canva Sans"/>
              </a:rPr>
              <a:t>2029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DAHCQ32Fxq8</dc:identifier>
  <dcterms:modified xsi:type="dcterms:W3CDTF">2011-08-01T06:04:30Z</dcterms:modified>
  <cp:revision>1</cp:revision>
  <dc:title>Market Research:</dc:title>
</cp:coreProperties>
</file>